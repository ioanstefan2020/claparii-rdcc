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DOCUMENTAȚIE TEHNICĂ &amp; EVALUARE JURIU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Limpede — Dosar de Departajare</a:t>
            </a:r>
          </a:p>
          <a:p>
            <a:pPr>
              <a:spcBef>
                <a:spcPts val="600"/>
              </a:spcBef>
              <a:defRPr sz="1800">
                <a:solidFill>
                  <a:srgbClr val="38BDF8"/>
                </a:solidFill>
              </a:defRPr>
            </a:pPr>
            <a:r>
              <a:t>Arhitectură Tehnică, Audit WCAG 2.2 AAA, Conformitate EU AI Act &amp; Matrice de Validare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560320" cy="24688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700" b="1">
                <a:solidFill>
                  <a:srgbClr val="0D9488"/>
                </a:solidFill>
              </a:defRPr>
            </a:pPr>
            <a:r>
              <a:t>WCAG 2.2 AAA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Contrast măsurat de 19.5:1, operare 100% tastatură, zero capcane de focus.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657600"/>
            <a:ext cx="2560320" cy="24688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EU AI Act Art. 5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Conformitate deplină: interzicere strictă a analizei emoțiilor la birou.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657600"/>
            <a:ext cx="2560320" cy="24688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Verbatim Grounding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Algoritm verify_quotes garantează integritatea matematică a citatelor.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3657600"/>
            <a:ext cx="2560320" cy="24688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460 Teste Green</a:t>
            </a:r>
          </a:p>
          <a:p>
            <a:pPr>
              <a:spcBef>
                <a:spcPts val="1000"/>
              </a:spcBef>
              <a:defRPr sz="1200">
                <a:solidFill>
                  <a:srgbClr val="CBD5E1"/>
                </a:solidFill>
              </a:defRPr>
            </a:pPr>
            <a:r>
              <a:t>100% teste automate trecute (contracte API, smoke end-to-end, tokeni CSS).</a:t>
            </a:r>
          </a:p>
        </p:txBody>
      </p:sp>
    </p:spTree>
  </p:cSld>
  <p:clrMapOvr>
    <a:masterClrMapping/>
  </p:clrMapOvr>
  <p:transition xmlns:p15="http://schemas.microsoft.com/office/powerpoint/2012/main" spd="med">
    <p15:morph option="byObjec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9184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ARHITECTURĂ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Pipeline-ul de Procesare &amp; Verbatim Quote Grounding</a:t>
            </a:r>
          </a:p>
          <a:p>
            <a:pPr>
              <a:spcBef>
                <a:spcPts val="400"/>
              </a:spcBef>
              <a:defRPr sz="1350">
                <a:solidFill>
                  <a:srgbClr val="38BDF8"/>
                </a:solidFill>
              </a:defRPr>
            </a:pPr>
            <a:r>
              <a:t>Cum eliminăm 100% halucinațiile înainte ca răspunsul să fie afișat.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777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1. Ingestie &amp; Curățare: </a:t>
            </a:r>
            <a:r>
              <a:rPr sz="1200" b="0">
                <a:solidFill>
                  <a:srgbClr val="E2E8F0"/>
                </a:solidFill>
              </a:rPr>
              <a:t>Document PDF/DOCX/Text brut -&gt; extragere paragrafe, eliminare zgomot de formatare, normalizare diacritice românești.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777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2. Analiză &amp; Extragere: </a:t>
            </a:r>
            <a:r>
              <a:rPr sz="1200" b="0">
                <a:solidFill>
                  <a:srgbClr val="E2E8F0"/>
                </a:solidFill>
              </a:rPr>
              <a:t>Modelul extrage: sarcini prioritare, termene, persoane responsabile, termeni cheie și posibile glume/metafore.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777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Verificare Verbatim (Grounding): </a:t>
            </a:r>
            <a:r>
              <a:rPr sz="1200" b="0">
                <a:solidFill>
                  <a:srgbClr val="E2E8F0"/>
                </a:solidFill>
              </a:rPr>
              <a:t>Funcția backend verify_quotes verifică matematic existența fiecărui source_quote în textul sursă. Citatele inventate sunt dropate automat.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698480" cy="777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Re-formatare pe Profil: </a:t>
            </a:r>
            <a:r>
              <a:rPr sz="1200" b="0">
                <a:solidFill>
                  <a:srgbClr val="E2E8F0"/>
                </a:solidFill>
              </a:rPr>
              <a:t>Aplicare reguli cognitive: imperativ, sub 10 cuvinte, card «De reținut», marcare [De confirmat] pe termene ambigue.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77724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5. Livrare Sigură &amp; Export: </a:t>
            </a:r>
            <a:r>
              <a:rPr sz="1200" b="0">
                <a:solidFill>
                  <a:srgbClr val="E2E8F0"/>
                </a:solidFill>
              </a:rPr>
              <a:t>Interfață reactivă cu funcția «Arată în text», pilule tactile mărite și export RFC 5545 (.ics) în calendar.</a:t>
            </a:r>
          </a:p>
        </p:txBody>
      </p:sp>
    </p:spTree>
  </p:cSld>
  <p:clrMapOvr>
    <a:masterClrMapping/>
  </p:clrMapOvr>
  <p:transition xmlns:p15="http://schemas.microsoft.com/office/powerpoint/2012/main" spd="med">
    <p15:morph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9184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AUDIT ACCESIBILITATE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Conformitate WCAG 2.2 Nivel AA &amp; AAA</a:t>
            </a:r>
          </a:p>
          <a:p>
            <a:pPr>
              <a:spcBef>
                <a:spcPts val="400"/>
              </a:spcBef>
              <a:defRPr sz="1350">
                <a:solidFill>
                  <a:srgbClr val="38BDF8"/>
                </a:solidFill>
              </a:defRPr>
            </a:pPr>
            <a:r>
              <a:t>Dovezi concrete de măsurare și verificare în cod.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194560"/>
                <a:gridCol w="4572000"/>
              </a:tblGrid>
              <a:tr h="746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Criteriu WCAG 2.2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Nivel Țintă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Rezultat Măsurat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Implementare Tehnică în Limpede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1.4.3 &amp; 1.4.6 Contrast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AAA (7.0:1)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19.5:1 (depășit cu 178%)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Paletă Midnight Slate pe fundal deschis; galben pe negru pentru modul de contrast extrem.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2.1.1 Tastatură Completă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AA / AAA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100% Navigabil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Trap-free focus management, skip link, scurtături globale (Alt+Shift+S), ordine logică de tab.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2.5.5 / 2.5.8 Ținte Tactile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AAA (44x44px)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Minim 48x48px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Variabilă CSS --min-touch-target: 44px; butoane de acțiune cu padding tactil și distanțiere.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3.1.5 Nivel de Lectură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AAA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Calibrat pe clase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Extragere limbaj simplu (Easy-to-Read), fraze sub 10 cuvinte, eliminare jargon birocratic.</a:t>
                      </a:r>
                    </a:p>
                  </a:txBody>
                  <a:tcPr>
                    <a:solidFill>
                      <a:srgbClr val="1E294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1.4.12 Spațiere Text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Ajustabil dinamic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Variabile CSS pentru line-height (1.6-2.0), letter-spacing și word-spacing fără rupere de layout.</a:t>
                      </a:r>
                    </a:p>
                  </a:txBody>
                  <a:tcPr>
                    <a:solidFill>
                      <a:srgbClr val="161F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5="http://schemas.microsoft.com/office/powerpoint/2012/main" spd="med">
    <p15:morph 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9184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B0F19"/>
                </a:solidFill>
              </a:defRPr>
            </a:pPr>
            <a:r>
              <a:t>CADRUL JURIDIC &amp; AI 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Conformitate cu Legislația Europeană și Națională</a:t>
            </a:r>
          </a:p>
          <a:p>
            <a:pPr>
              <a:spcBef>
                <a:spcPts val="400"/>
              </a:spcBef>
              <a:defRPr sz="1350">
                <a:solidFill>
                  <a:srgbClr val="38BDF8"/>
                </a:solidFill>
              </a:defRPr>
            </a:pPr>
            <a:r>
              <a:t>Respectarea demnității, fără profilare medicală invazivă.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205740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INTERZICEREA EMOȚIILOR LA BIROU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EU AI Act — Articolul 5 &amp; Articolul 50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Interzice categoric utilizarea sistemelor AI pentru inferența emoțiilor sau a stărilor psihice la locul de muncă. Limpede nu folosește vocea sau mimica pentru deducție de sentimente; este un instrument exclusiv de asistență textuală.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205740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ADAPTARE REZONABILĂ LA LOCUL DE MUNCĂ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Legea 448/2006 (România) — Art. 83-84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Obligă angajatorii să asigure adaptări ale mediului de muncă. Modulul nostru de adaptări redactează solicitări oficiale fundamentate pe lege, fără a expune diagnosticul medical al angajatului.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05740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ZERO STOCARE PE SERVER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GDPR &amp; Confidențialitate Locală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Datele din chestionarul de preferințe, documentele simplificate și sarcinile de lucru rămân 100% în localStorage-ul browserului. Utilizatorul are butonul fizic «Șterge tot» cu efect instant.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05740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CERINȚE MINIME PENTRU ECRANE DE VIZUALIZARE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HG 1028/2006 &amp; Directiva 90/270/CEE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</a:defRPr>
            </a:pPr>
            <a:r>
              <a:t>Reglementează ergonomia vizuală și evitarea oboselii oculare la ecran. Teme fără strălucire orbitoare, suport fonturi bionice și riglă digitală de lectură.</a:t>
            </a:r>
          </a:p>
        </p:txBody>
      </p:sp>
    </p:spTree>
  </p:cSld>
  <p:clrMapOvr>
    <a:masterClrMapping/>
  </p:clrMapOvr>
  <p:transition xmlns:p15="http://schemas.microsoft.com/office/powerpoint/2012/main" spd="med">
    <p15:morph option="byObjec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3291840" cy="34747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INGINERIE &amp; REZILIENȚĂ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Arhitectură Multi-Provider &amp; Circuit Breaker</a:t>
            </a:r>
          </a:p>
          <a:p>
            <a:pPr>
              <a:spcBef>
                <a:spcPts val="400"/>
              </a:spcBef>
              <a:defRPr sz="1350">
                <a:solidFill>
                  <a:srgbClr val="38BDF8"/>
                </a:solidFill>
              </a:defRPr>
            </a:pPr>
            <a:r>
              <a:t>Garantează funcționarea chiar dacă serviciile cloud pică.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Frontend: Vanilla ES Modules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Zero dependențe externe de tip CDN. Funcționează complet offline, securizat împotriva atacurilor de tip supply-chain.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2976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Extensie Browser: Manifest V3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Shadow DOM izolat ermetic de paginile gazdă (Jira, Slack). Servicii de background asincrone și stocare locală securizată.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42976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Backend: FastAPI &amp; Pydantic v2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Validare strictă a schemelor de date, I/O asincron, toleranță la erori JSON și curățare de prompt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560320" cy="4297680"/>
          </a:xfrm>
          <a:prstGeom prst="roundRect">
            <a:avLst/>
          </a:prstGeom>
          <a:solidFill>
            <a:srgbClr val="161F3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Lanț de Modele (Fallback Chain)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Gemini 2.5 Flash -&gt; Groq Whisper &amp; Llama 3 -&gt; Ollama local -&gt; Motor euristic determinist 100% offline.</a:t>
            </a:r>
          </a:p>
        </p:txBody>
      </p:sp>
    </p:spTree>
  </p:cSld>
  <p:clrMapOvr>
    <a:masterClrMapping/>
  </p:clrMapOvr>
  <p:transition xmlns:p15="http://schemas.microsoft.com/office/powerpoint/2012/main" spd="med">
    <p15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