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0:00 – 1:00 (1:00 min)</a:t>
            </a:r>
          </a:p>
          <a:p>
            <a:r>
              <a:t>DISCURS PENTRU JURIU:</a:t>
            </a:r>
          </a:p>
          <a:p>
            <a:r>
              <a:t>„Faceți cunoștință cu Ana. Are 23 de ani, a terminat facultatea și astăzi este prima ei zi de muncă. Este inteligentă, entuziasmată și dornică să performeze. Dar în primele 2 ore de la sosire, primește un teanc de 40 de pagini de proceduri birocratice, e-mailuri cu termene vagi precum «cât mai repede» și instrucțiuni confuze.</a:t>
            </a:r>
          </a:p>
          <a:p/>
          <a:p>
            <a:r>
              <a:t>Ana are o dizabilitate invizibilă: ADHD și anxietate socială. Îi este o frică paralizantă să întrebe pentru a treia oară ce înseamnă «Formularul F-12» sau «SecInfo v3», de teamă să nu pară incompetentă în perioada de probă.</a:t>
            </a:r>
          </a:p>
          <a:p/>
          <a:p>
            <a:r>
              <a:t>În România și în Uniunea Europeană, 1 din 6 tineri trăiește cu o dizabilitate, iar 68% din abandonurile la primul job se întâmplă din cauza comunicării inaccesibile și a fricii de stigmatizare. Pentru ei am creat Limpede: adaptăm locul de muncă la om, nu invers.”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1:00 – 1:40 (0:40 min)</a:t>
            </a:r>
          </a:p>
          <a:p>
            <a:r>
              <a:t>DISCURS PENTRU JURIU:</a:t>
            </a:r>
          </a:p>
          <a:p>
            <a:r>
              <a:t>„Limpede este prima suită completă de asistență cognitivă la locul de muncă în limba română, concepută ca un ecosistem integrat:</a:t>
            </a:r>
          </a:p>
          <a:p>
            <a:r>
              <a:t>1. Pentru Angajat: Un asistent confidențial care clarifică documentele pas cu pas, extrage termene în calendar, sintetizează ședințe și redactează cereri oficiale de adaptare — fără să ceară vreodată diagnostic medical.</a:t>
            </a:r>
          </a:p>
          <a:p>
            <a:r>
              <a:t>2. Pentru Angajator: Portal de audit prin care departamentul HR măsoară lizibilitatea documentelor interne și generează automat versiuni în limbaj simplu (Easy-to-Read).</a:t>
            </a:r>
          </a:p>
          <a:p>
            <a:r>
              <a:t>3. Extensia de Browser Limpede: Funcționează direct pe orice aplicație web a companiei (Confluence, Jira, Gmail, Slack). Selectezi orice text stufos și primești claritate pe loc.”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1:40 – 2:15 (0:35 min)</a:t>
            </a:r>
          </a:p>
          <a:p>
            <a:r>
              <a:t>DISCURS PENTRU JURIU:</a:t>
            </a:r>
          </a:p>
          <a:p>
            <a:r>
              <a:t>„Cum arată incluziunea reală în codul Limpede? Am mapat fiecare barieră la o rezolvare tehnică precisă:</a:t>
            </a:r>
          </a:p>
          <a:p>
            <a:r>
              <a:t>- Memorie: Cardul prioritar «De reținut imediat» plasează esențialul în fruntea ecranului.</a:t>
            </a:r>
          </a:p>
          <a:p>
            <a:r>
              <a:t>- ADHD: Eliminăm introducerile sterile; afișăm doar 3-4 pași scurți, imperativi, sub 10 cuvinte.</a:t>
            </a:r>
          </a:p>
          <a:p>
            <a:r>
              <a:t>- Vedere: Temă Contrast Ridicat 19.5:1 AAA, scalare la 200% și pilule tactile pentru ore și date.</a:t>
            </a:r>
          </a:p>
          <a:p>
            <a:r>
              <a:t>- Autism: Decodificăm cererile corporatiste indirecte și marcăm glumele ca «posibilă glumă — nesigur».</a:t>
            </a:r>
          </a:p>
          <a:p>
            <a:r>
              <a:t>- Dislexie: Fonturi licențiate OpenDyslexic și Atkinson Hyperlegible cu suport complet pentru diacriticele românești.</a:t>
            </a:r>
          </a:p>
          <a:p>
            <a:r>
              <a:t>- Auz: Transcriere cu extragere de decizii scrise și sarcini cu responsabili.</a:t>
            </a:r>
          </a:p>
          <a:p>
            <a:r>
              <a:t>- Motor: Totul funcționează 100% din tastatură, cu ținte tactile mari de peste 44 de pixeli.”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2:15 – 3:00 (0:45 min)</a:t>
            </a:r>
          </a:p>
          <a:p>
            <a:r>
              <a:t>DISCURS PENTRU JURIU:</a:t>
            </a:r>
          </a:p>
          <a:p>
            <a:r>
              <a:t>„De ce nu folosește Ana pur și simplu ChatGPT sau un corector gramatical?</a:t>
            </a:r>
          </a:p>
          <a:p>
            <a:r>
              <a:t>1. Zero Halucinații (Verbatim Grounding): ChatGPT inventează date când nu știe. Limpede verifică algoritmic fiecare citat și oferă butonul «Arată în text» — dovada matematică a sursei în documentul oficial.</a:t>
            </a:r>
          </a:p>
          <a:p>
            <a:r>
              <a:t>2. Protecție pe Termene Ambigue: La fraza «trimite cât mai repede», ChatGPT ar fi ghicit o dată oarecare. Limpede refuză să ghicească, marchează cu [De confirmat] și exportă fișier de calendar .ics.</a:t>
            </a:r>
          </a:p>
          <a:p>
            <a:r>
              <a:t>3. Confidențialitate &amp; Fără Etichete Medicale: Nu cerem dosar medical sau certificat de încadrare. Datele rămân 100% în browser (localStorage).</a:t>
            </a:r>
          </a:p>
          <a:p>
            <a:r>
              <a:t>4. Conformitate cu Regulamentul European (EU AI Act): Interzicem strict recunoașterea emoțiilor din voce sau text la locul de muncă, respectând Articolul 5.”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3:00 – 6:30 (3:30 min)</a:t>
            </a:r>
          </a:p>
          <a:p>
            <a:r>
              <a:t>GHID OPERAȚIONAL PENTRU DEMO LIVE:</a:t>
            </a:r>
          </a:p>
          <a:p>
            <a:r>
              <a:t>1. (3:00-3:35) Deschide /employee/profile.html. Lipește: «am probleme mari de memorie și uit repede instrucțiunile. Vreau să îmi bolduiești orele și datele limită și să îmi pui ce am de reținut imediat». Salvează.</a:t>
            </a:r>
          </a:p>
          <a:p>
            <a:r>
              <a:t>2. (3:35-4:35) Pe Acasă, apasă + -&gt; Încarcă PDF -&gt; alege ghid_onboarding_exemplu.pdf -&gt; Clarifică. Arată cardul «De reținut», pilulele mari și apasă «Arată în text» la Pasul 1 (se aprinde galben în stânga!).</a:t>
            </a:r>
          </a:p>
          <a:p>
            <a:r>
              <a:t>3. (4:35-5:15) Pe Planificator (/employee/plan.html), încarcă exemplul managerial. Arată badge-ul galben [De confirmat]. Confirmă data și descarcă fișierul .ics.</a:t>
            </a:r>
          </a:p>
          <a:p>
            <a:r>
              <a:t>4. (5:15-6:00) Pe Tab-ul 2 cu un articol/document web, selectează textul. Apasă «Fă clar». Testează «✂️ Mai scurt», «• Buline» și «🔊 Ascultă».</a:t>
            </a:r>
          </a:p>
          <a:p>
            <a:r>
              <a:t>5. (6:00-6:30) Pe /employer/index.html, încarcă exemplul de onboarding. Arată scorul, jargonul detectat și versiunea Easy-to-Read.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6:30 – 6:45 (0:15 min)</a:t>
            </a:r>
          </a:p>
          <a:p>
            <a:r>
              <a:t>DISCURS PENTRU JURIU:</a:t>
            </a:r>
          </a:p>
          <a:p>
            <a:r>
              <a:t>„Din punct de vedere tehnic și etic:</a:t>
            </a:r>
          </a:p>
          <a:p>
            <a:r>
              <a:t>- WCAG 2.2 AAA: Avem un contrast verificat de 19.5:1, operare 100% din tastatură și ținte tactile generoase.</a:t>
            </a:r>
          </a:p>
          <a:p>
            <a:r>
              <a:t>- Verbatim Grounding: Algoritmul nostru de backend verifică fiecare citat și elimină halucinațiile înainte ca răspunsul să ajungă la ecran.</a:t>
            </a:r>
          </a:p>
          <a:p>
            <a:r>
              <a:t>- EU AI Act: Respectăm strict Articolul 5 interzicând deducerea emoțiilor la locul de muncă.</a:t>
            </a:r>
          </a:p>
          <a:p>
            <a:r>
              <a:t>- Rezistență maximă: Aplicația funcționează online pe server, dar are și un motor euristic local capabil să ruleze complet offline fără internet.”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6:45 – 7:00 (0:15 min)</a:t>
            </a:r>
          </a:p>
          <a:p>
            <a:r>
              <a:t>DISCURS PENTRU JURIU (FRAZA FINALĂ DE IMPACT):</a:t>
            </a:r>
          </a:p>
          <a:p>
            <a:r>
              <a:t>„Cu Limpede, prima zi de muncă nu mai este un test de anduranță cognitivă sau o sursă de panică, ci un parteneriat bazat pe claritate, demnitate și performanță.</a:t>
            </a:r>
          </a:p>
          <a:p/>
          <a:p>
            <a:r>
              <a:t>Vă mulțumim din suflet și așteptăm cu entuziasm întrebările dumneavoastră!”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7:00 – 10:00 (3:00 min Q&amp;A)</a:t>
            </a:r>
          </a:p>
          <a:p>
            <a:r>
              <a:t>REPERE PENTRU RĂSPUNSURILE LA ÎNTREBĂRILE JURIULUI:</a:t>
            </a:r>
          </a:p>
          <a:p>
            <a:r>
              <a:t>- Î: «De ce nu se trimit datele pe server?» -&gt; R: „Pentru a respecta 100% confidențialitatea Anei și GDPR. Preferințele se salvează în localStorage.”</a:t>
            </a:r>
          </a:p>
          <a:p>
            <a:r>
              <a:t>- Î: «Cum garantați că nu halucinează?» -&gt; R: „Funcția noastră verify_quotes compară matematic fiecare citat cu textul sursă. Dacă un citat nu există verbatim, este eliminat automat.”</a:t>
            </a:r>
          </a:p>
          <a:p>
            <a:r>
              <a:t>- Î: «De ce nu detectați emoțiile din voce?» -&gt; R: „Regulamentul European AI Act interzice explicit detectarea emoțiilor la locul de muncă (Art. 5). Ne concentrăm doar pe transcriere și acțiuni concrete.”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731520"/>
            <a:ext cx="4114800" cy="38404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ACCESSABILITY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Limpede</a:t>
            </a:r>
          </a:p>
          <a:p>
            <a:pPr>
              <a:spcBef>
                <a:spcPts val="800"/>
              </a:spcBef>
              <a:defRPr sz="2400" b="1">
                <a:solidFill>
                  <a:srgbClr val="F59E0B"/>
                </a:solidFill>
              </a:defRPr>
            </a:pPr>
            <a:r>
              <a:t>Primul pas la primul job, fără bariere de înțelegere.</a:t>
            </a:r>
          </a:p>
          <a:p>
            <a:pPr>
              <a:spcBef>
                <a:spcPts val="400"/>
              </a:spcBef>
              <a:defRPr sz="1600" i="1">
                <a:solidFill>
                  <a:srgbClr val="94A3B8"/>
                </a:solidFill>
              </a:defRPr>
            </a:pPr>
            <a:r>
              <a:t>Adaptăm locul de muncă la om, nu invers.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749039"/>
            <a:ext cx="32004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68% Abandon</a:t>
            </a:r>
          </a:p>
          <a:p>
            <a:pPr>
              <a:spcBef>
                <a:spcPts val="1000"/>
              </a:spcBef>
              <a:defRPr sz="1300">
                <a:solidFill>
                  <a:srgbClr val="E2E8F0"/>
                </a:solidFill>
              </a:defRPr>
            </a:pPr>
            <a:r>
              <a:t>din abandonurile la primul job se produc din cauza comunicării inaccesibile și a fricii de stigmatizare.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749039"/>
            <a:ext cx="32004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defRPr sz="2200" b="1">
                <a:solidFill>
                  <a:srgbClr val="0D9488"/>
                </a:solidFill>
              </a:defRPr>
            </a:pPr>
            <a:r>
              <a:t>1 din 6 Tineri</a:t>
            </a:r>
          </a:p>
          <a:p>
            <a:pPr>
              <a:spcBef>
                <a:spcPts val="1000"/>
              </a:spcBef>
              <a:defRPr sz="1300">
                <a:solidFill>
                  <a:srgbClr val="E2E8F0"/>
                </a:solidFill>
              </a:defRPr>
            </a:pPr>
            <a:r>
              <a:t>din România și Uniunea Europeană trăiește cu o dizabilitate sau o neurodivergență.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749039"/>
            <a:ext cx="32004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Zero Diagnostic</a:t>
            </a:r>
          </a:p>
          <a:p>
            <a:pPr>
              <a:spcBef>
                <a:spcPts val="1000"/>
              </a:spcBef>
              <a:defRPr sz="1300">
                <a:solidFill>
                  <a:srgbClr val="E2E8F0"/>
                </a:solidFill>
              </a:defRPr>
            </a:pPr>
            <a:r>
              <a:t>Limpede nu cere niciodată adeverințe sau diagnostice. Adaptarea se face pe baza confortului ales.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200400" cy="34747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1:00 – 1:40 • ECOSISTEMUL UNIFICAT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Soluție Completă: Platformă Web Bilaterală + Extensie Browser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O suită unitară care conectează angajatul cu angajatorul și funcționează direct pe orice aplicație web.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800" b="1">
                <a:solidFill>
                  <a:srgbClr val="0D9488"/>
                </a:solidFill>
              </a:defRPr>
            </a:pPr>
            <a:r>
              <a:t>1. Zona Angajatului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Clarificare pas-cu-pas a documentelor stufoase de onboarding.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Ancore vizuale tactile pentru date, ore și coduri esențiale.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Planificator cu protecție pe termene vagi &amp; export .ics.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Asistent de ședință: audio -&gt; decizii scrise cu responsabili.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Redactor cereri de adaptare conform legislației românești, fără diagnostic medical.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2. Zona Angajatorului (HR)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Scanner de lizibilitate documente interne (scor 0-100).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Detector automat de jargon corporatist și acronime neexplicate.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Evidențierea propozițiilor peste 25 de cuvinte greu de parcurs.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Generator automat versiune Easy-to-Read (Limbaj Ușor de Citit).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Sprijin direct pentru conformitate ESG / CSRD și incluziune reală.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800" b="1">
                <a:solidFill>
                  <a:srgbClr val="0D9488"/>
                </a:solidFill>
              </a:defRPr>
            </a:pPr>
            <a:r>
              <a:t>3. Extensia de Browser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Funcționează pe orice pagină web: Confluence, Jira, Gmail, Slack.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Selectezi orice text stufos și apeși pe butonul plutitor «Fă clar».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Card Shadow DOM complet izolat de stilurile paginii gazdă.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Transformări instant: «✂️ Mai scurt», «• Buline», «Pe pași».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Sinteză vocală naturală în limba română (ro-RO) la un click.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200400" cy="34747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1:40 – 2:15 • SPECTRUL FUNCȚIONAL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Incluziune Reală pentru Întreg Spectrul Funcțional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Design universal: adaptări concrete în cod pentru fiecare tip de barieră la locul de muncă.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106984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383280"/>
                <a:gridCol w="4572000"/>
              </a:tblGrid>
              <a:tr h="56007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Categorie / Nevoie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Bariera la Locul de Muncă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Cum rezolvă Limpede în cod?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Memorie &amp; Reținere</a:t>
                      </a:r>
                      <a:br/>
                      <a:r>
                        <a:t>(Cognitiv, oboseală, traumatisme)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Uitarea instrucțiunilor și a termenelor din prima zi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Card prioritar «📌 De reținut imediat», dublare termeni cheie, pilule tactile.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ADHD &amp; Atenție</a:t>
                      </a:r>
                      <a:br/>
                      <a:r>
                        <a:t>(Neurodivergență, hiperfocus)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Pierderea șirului în proceduri de 40 de pagini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Filtru politețuri sterile; maximum 3-4 pași sub 10 cuvinte cu verbe la imperativ.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Vedere Scăzută / Fotofobie</a:t>
                      </a:r>
                      <a:br/>
                      <a:r>
                        <a:t>(Miopie severă, ambliopie)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Efort masiv pe fonturi mici și tabele neclare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Temă Contrast Ridicat (19.5:1 AAA), scalare 200%, pilule tactile mărite.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Autism &amp; Literalitate</a:t>
                      </a:r>
                      <a:br/>
                      <a:r>
                        <a:t>(Neurodivergență)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Confuzie la metafore, glume sau cereri indirecte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Decodificare cereri indirecte; etichetare obligatorie: (posibilă glumă — nesigur).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Dislexie</a:t>
                      </a:r>
                      <a:br/>
                      <a:r>
                        <a:t>(Dificultate procesare text)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Litere care dansează, oboseală la lectură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Fonturi speciale (OpenDyslexic, Atkinson), riglă de lectură și ghidaj bionic.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Deficiențe de Auz</a:t>
                      </a:r>
                      <a:br/>
                      <a:r>
                        <a:t>(Hipoacuzie)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Pierderea deciziilor din ședințele verbale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Transformare audio în decizii scrise și sarcini cu responsabili asignați.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Dizabilități Motorii</a:t>
                      </a:r>
                      <a:br/>
                      <a:r>
                        <a:t>(Mobilitate redusă)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Dificultate la folosirea mouse-ului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Ținte tactile mari (≥ 44px), navigare 100% din tastatură, Alt + Shift + 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200400" cy="34747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2:15 – 3:00 • DE CE LIMPEDE?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De Ce Nu ChatGPT, Grammarly sau Portalele HR Clasice?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Matrice de conformitate și protecție: siguranță cognitivă și respectarea legii.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106984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011680"/>
                <a:gridCol w="1828800"/>
                <a:gridCol w="1828800"/>
                <a:gridCol w="2560320"/>
              </a:tblGrid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Criteriu de Evaluare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ChatGPT / Generic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Grammarly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Portaluri HR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Limpede (Noi)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Zero Halucinații</a:t>
                      </a:r>
                      <a:br/>
                      <a:r>
                        <a:t>(Verbatim Grounding)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❌ Inventează date și termene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❌ Doar gramatică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❌ Nu simplifică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✅ Verificare matematică:</a:t>
                      </a:r>
                      <a:br/>
                      <a:r>
                        <a:t>«Arată în text» luminează sursa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Protecție Termene Ambigue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❌ Ghicește o dată arbitrară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❌ Indiferent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❌ Creează confuzie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✅ Refuză să ghicească:</a:t>
                      </a:r>
                      <a:br/>
                      <a:r>
                        <a:t>marchează [De confirmat] + .ics</a:t>
                      </a:r>
                    </a:p>
                  </a:txBody>
                  <a:tcPr>
                    <a:solidFill>
                      <a:srgbClr val="FDE68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Fără Date Medicale Invazive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❌ Cere diagnostic medical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❌ Fără profil adaptat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❌ Cere certificat handicap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✅ 100% Funcțional:</a:t>
                      </a:r>
                      <a:br/>
                      <a:r>
                        <a:t>personalizare pe nevoi, zero etichete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EU AI Act Conformant</a:t>
                      </a:r>
                      <a:br/>
                      <a:r>
                        <a:t>(Articolul 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❌ Analiză emoții neclară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❌ Cloud SUA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❌ Static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✅ Interzice strict detectarea emoțiilor din voce/text la birou</a:t>
                      </a:r>
                    </a:p>
                  </a:txBody>
                  <a:tcPr>
                    <a:solidFill>
                      <a:srgbClr val="FDE68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Disponibilitate Offline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❌ Necesită conexiune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❌ Necesită conexiune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❌ Variabil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✅ Salvare 100% localStorage +</a:t>
                      </a:r>
                      <a:br/>
                      <a:r>
                        <a:t>motor euristic de rezervă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Integrare Oriunde pe Web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❌ Copy-paste continuu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⚠️ Doar verificare text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❌ Închis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✅ Extensie Browser:</a:t>
                      </a:r>
                      <a:br/>
                      <a:r>
                        <a:t>card plutitor peste orice aplicație</a:t>
                      </a:r>
                    </a:p>
                  </a:txBody>
                  <a:tcPr>
                    <a:solidFill>
                      <a:srgbClr val="FDE68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200400" cy="34747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3:00 – 6:30 • LIVE DEMO PAS CU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Scenariul Complet de Demonstrație în Fața Juriului (3:30 Min)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5 momente cheie care demonstrează valoarea practică a ecosistemului Limpede.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96596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Pasul 1 (0:35)</a:t>
            </a:r>
          </a:p>
          <a:p>
            <a:pPr>
              <a:spcBef>
                <a:spcPts val="600"/>
              </a:spcBef>
              <a:defRPr sz="1600" b="1">
                <a:solidFill>
                  <a:srgbClr val="0F172A"/>
                </a:solidFill>
              </a:defRPr>
            </a:pPr>
            <a:r>
              <a:t>Profil &amp; Nevoi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</a:defRPr>
            </a:pPr>
            <a:r>
              <a:t>Definire stil de lucru în propriile cuvinte, fără certificat medical. Salvare 100% pe dispozitiv.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1737360"/>
            <a:ext cx="196596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Pasul 2 (1:00)</a:t>
            </a:r>
          </a:p>
          <a:p>
            <a:pPr>
              <a:spcBef>
                <a:spcPts val="600"/>
              </a:spcBef>
              <a:defRPr sz="1600" b="1">
                <a:solidFill>
                  <a:srgbClr val="0F172A"/>
                </a:solidFill>
              </a:defRPr>
            </a:pPr>
            <a:r>
              <a:t>PDF &amp; «Arată în text»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</a:defRPr>
            </a:pPr>
            <a:r>
              <a:t>Încărcare ghid onboarding, card prioritar «De reținut», pilule tactile și verificarea citatului în textul sursă.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737360"/>
            <a:ext cx="196596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Pasul 3 (0:45)</a:t>
            </a:r>
          </a:p>
          <a:p>
            <a:pPr>
              <a:spcBef>
                <a:spcPts val="600"/>
              </a:spcBef>
              <a:defRPr sz="1600" b="1">
                <a:solidFill>
                  <a:srgbClr val="0F172A"/>
                </a:solidFill>
              </a:defRPr>
            </a:pPr>
            <a:r>
              <a:t>Planificator &amp; .ICS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</a:defRPr>
            </a:pPr>
            <a:r>
              <a:t>Extragere sarcini din email managerial («cât mai repede»), alertă [De confirmat] și export calendar.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737360"/>
            <a:ext cx="196596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Pasul 4 (0:45)</a:t>
            </a:r>
          </a:p>
          <a:p>
            <a:pPr>
              <a:spcBef>
                <a:spcPts val="600"/>
              </a:spcBef>
              <a:defRPr sz="1600" b="1">
                <a:solidFill>
                  <a:srgbClr val="0F172A"/>
                </a:solidFill>
              </a:defRPr>
            </a:pPr>
            <a:r>
              <a:t>Extensia Browser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</a:defRPr>
            </a:pPr>
            <a:r>
              <a:t>Selectare text pe orice site, butonul «Fă clar», compresie «✂️ Mai scurt», buline și voce sintetică ro-RO.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1737360"/>
            <a:ext cx="196596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Pasul 5 (0:25)</a:t>
            </a:r>
          </a:p>
          <a:p>
            <a:pPr>
              <a:spcBef>
                <a:spcPts val="600"/>
              </a:spcBef>
              <a:defRPr sz="1600" b="1">
                <a:solidFill>
                  <a:srgbClr val="0F172A"/>
                </a:solidFill>
              </a:defRPr>
            </a:pPr>
            <a:r>
              <a:t>Portal Angajator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</a:defRPr>
            </a:pPr>
            <a:r>
              <a:t>Audit HR lizibilitate (0-100), detector jargon și generare automată Easy-to-Read pentru companie.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200400" cy="34747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6:30 – 6:45 • ARHITECTURĂ &amp; ETICĂ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Arhitectură Tehnică Robustă &amp; Conformitate Europeană</a:t>
            </a:r>
          </a:p>
          <a:p>
            <a:pPr>
              <a:spcBef>
                <a:spcPts val="400"/>
              </a:spcBef>
              <a:defRPr sz="1400">
                <a:solidFill>
                  <a:srgbClr val="F59E0B"/>
                </a:solidFill>
              </a:defRPr>
            </a:pPr>
            <a:r>
              <a:t>Construit la cele mai înalte standarde de accesibilitate și securitate a datelor.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 rIns="274320"/>
          <a:lstStyle/>
          <a:p>
            <a:pPr algn="ctr">
              <a:defRPr sz="1700" b="1">
                <a:solidFill>
                  <a:srgbClr val="0D9488"/>
                </a:solidFill>
              </a:defRPr>
            </a:pPr>
            <a:r>
              <a:t>WCAG 2.2 AAA &amp; Ergonomie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Contrast măsurat de 19.5:1 (depășește cerința AAA de 7:1).</a:t>
            </a:r>
            <a:br/>
            <a:r>
              <a:t>Operare 100% din tastatură fără capcane de focus.</a:t>
            </a:r>
            <a:br/>
            <a:r>
              <a:t>Ținte tactile mari ≥ 44px și design tokens unificate.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 rIns="274320"/>
          <a:lstStyle/>
          <a:p>
            <a:pPr algn="ctr">
              <a:defRPr sz="1700" b="1">
                <a:solidFill>
                  <a:srgbClr val="F59E0B"/>
                </a:solidFill>
              </a:defRPr>
            </a:pPr>
            <a:r>
              <a:t>Verbatim Quote Grounding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Algoritm backend verify_quotes garantează zero halucinații.</a:t>
            </a:r>
            <a:br/>
            <a:r>
              <a:t>Fiecare dată, nume sau acțiune poartă un citat textual verificat direct în documentul original semnat.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2120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 rIns="274320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EU AI Act &amp; Confidențialitate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Conformitate deplină cu Articolul 5 (fără detecție de emoții).</a:t>
            </a:r>
            <a:br/>
            <a:r>
              <a:t>Zero stocare de dosare medicale sau diagnostice.</a:t>
            </a:r>
            <a:br/>
            <a:r>
              <a:t>Preferințele și documentele rămân 100% în localStorage-ul Anei.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023360"/>
            <a:ext cx="52120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 rIns="274320"/>
          <a:lstStyle/>
          <a:p>
            <a:pPr algn="ctr">
              <a:defRPr sz="1700" b="1">
                <a:solidFill>
                  <a:srgbClr val="0D9488"/>
                </a:solidFill>
              </a:defRPr>
            </a:pPr>
            <a:r>
              <a:t>Circuit Breaker &amp; Fallback Chain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Lanț inteligent de modele: Gemini -&gt; Groq -&gt; Ollama -&gt; Mock.</a:t>
            </a:r>
            <a:br/>
            <a:r>
              <a:t>Motor euristic local offline capabil să funcționeze chiar dacă rețeaua sau internetul pică complet.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200400" cy="34747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6:45 – 7:00 • SUSTENABILITATE &amp; ÎNCHEIERE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Model Sustenabil B2B &amp; Impact Social Reale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Cum transformăm Limpede dintr-un proiect de hackathon într-un standard național de incluziune.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defRPr sz="1800" b="1">
                <a:solidFill>
                  <a:srgbClr val="0D9488"/>
                </a:solidFill>
              </a:defRPr>
            </a:pPr>
            <a:r>
              <a:t>Pentru Angajați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100% Gratuit, permanent.</a:t>
            </a:r>
            <a:br/>
            <a:r>
              <a:t>Fără reclame, fără bariere financiare, fără partajare de date personale.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38328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B2B (Companii &amp; HR)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Abonament SaaS pentru portalul de audit de lizibilitate, conformitate CSRD/ESG și rapoarte de incluziune.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38328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Parteneriate Strategice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Centre de carieră universitare, ONG-uri de sprijin și asociații ale persoanelor neurodivergente.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10698480" cy="173736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365760" rIns="365760"/>
          <a:lstStyle/>
          <a:p>
            <a:pPr algn="ctr">
              <a:defRPr sz="1700" b="1" i="1">
                <a:solidFill>
                  <a:srgbClr val="FFFFFF"/>
                </a:solidFill>
              </a:defRPr>
            </a:pPr>
            <a:r>
              <a:t>„Cu Limpede, prima zi de muncă nu mai este un test de anduranță cognitivă sau o sursă de panică, ci un parteneriat bazat pe claritate, demnitate și performanță.”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023360" y="1097280"/>
            <a:ext cx="411480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SESIUNEA DE Q&amp;A CU JURIUL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Vă mulțumim! Întrebări &amp; Răspunsuri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474720"/>
            <a:ext cx="310896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defRPr sz="1800" b="1">
                <a:solidFill>
                  <a:srgbClr val="0D9488"/>
                </a:solidFill>
              </a:defRPr>
            </a:pPr>
            <a:r>
              <a:t>441 Teste Verificate</a:t>
            </a:r>
          </a:p>
          <a:p>
            <a:pPr algn="ctr">
              <a:spcBef>
                <a:spcPts val="1200"/>
              </a:spcBef>
              <a:defRPr sz="1300">
                <a:solidFill>
                  <a:srgbClr val="E2E8F0"/>
                </a:solidFill>
              </a:defRPr>
            </a:pPr>
            <a:r>
              <a:t>100% acoperire backend, endpoint-uri și tokeni CSS.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3474720"/>
            <a:ext cx="310896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defRPr sz="1800" b="1">
                <a:solidFill>
                  <a:srgbClr val="0D9488"/>
                </a:solidFill>
              </a:defRPr>
            </a:pPr>
            <a:r>
              <a:t>WCAG 2.2 AAA</a:t>
            </a:r>
          </a:p>
          <a:p>
            <a:pPr algn="ctr">
              <a:spcBef>
                <a:spcPts val="1200"/>
              </a:spcBef>
              <a:defRPr sz="1300">
                <a:solidFill>
                  <a:srgbClr val="E2E8F0"/>
                </a:solidFill>
              </a:defRPr>
            </a:pPr>
            <a:r>
              <a:t>Contrast 19.5:1 și navigare fără mouse.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19" y="3474720"/>
            <a:ext cx="310896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defRPr sz="1800" b="1">
                <a:solidFill>
                  <a:srgbClr val="0D9488"/>
                </a:solidFill>
              </a:defRPr>
            </a:pPr>
            <a:r>
              <a:t>Manifest V3 Ready</a:t>
            </a:r>
          </a:p>
          <a:p>
            <a:pPr algn="ctr">
              <a:spcBef>
                <a:spcPts val="1200"/>
              </a:spcBef>
              <a:defRPr sz="1300">
                <a:solidFill>
                  <a:srgbClr val="E2E8F0"/>
                </a:solidFill>
              </a:defRPr>
            </a:pPr>
            <a:r>
              <a:t>Extensie Chrome funcțională pe orice site web.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