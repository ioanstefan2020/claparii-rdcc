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 1:00</a:t>
            </a:r>
          </a:p>
          <a:p>
            <a:r>
              <a:t>„Faceți cunoștință cu Ana. Are 23 de ani, a terminat facultatea și astăzi este prima ei zi de muncă. Primește un teanc de 40 de pagini de proceduri, e-mailuri vagi cu «cât mai repede» și instrucțiuni confuze. Ana are o dizabilitate invizibilă: ADHD și anxietate socială. Îi este teamă să întrebe pentru a treia oară. În România și UE, 1 din 6 tineri trăiește cu o dizabilitate, iar 68% din abandonurile primului job vin din comunicare inaccesibilă. Pentru ei am creat Limpede: adaptăm locul de muncă la om, nu invers.”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1:40</a:t>
            </a:r>
          </a:p>
          <a:p>
            <a:r>
              <a:t>„Limpede nu este doar o pagină web. Este un ecosistem bilateral complet:</a:t>
            </a:r>
          </a:p>
          <a:p>
            <a:r>
              <a:t>1. Pentru Angajat: Asistentul care simplifică documentele, extrage termene și redactează adaptări.</a:t>
            </a:r>
          </a:p>
          <a:p>
            <a:r>
              <a:t>2. Extensia de Browser: Trăiește direct în Jira, Confluence, Slack sau Gmail. Selectezi textul și îl faci clar pe loc.</a:t>
            </a:r>
          </a:p>
          <a:p>
            <a:r>
              <a:t>3. Pentru Angajator: Portalul HR care măsoară lizibilitatea și produce versiuni Easy-to-Read înainte ca noul coleg să ajungă la birou.”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2:15</a:t>
            </a:r>
          </a:p>
          <a:p>
            <a:r>
              <a:t>„De ce suntem cel mai mândri în Limpede?</a:t>
            </a:r>
          </a:p>
          <a:p>
            <a:r>
              <a:t>1. Nu cerem diagnostic medical. Personalizarea se bazează pe nevoi reale de confort, iar datele rămân în browserul tău.</a:t>
            </a:r>
          </a:p>
          <a:p>
            <a:r>
              <a:t>2. Funcția «Arată în text» oferă dovada matematică a sursei: un click derulează documentul și aprinde citatul exact. Zero halucinații.</a:t>
            </a:r>
          </a:p>
          <a:p>
            <a:r>
              <a:t>3. Protejăm angajatul împotriva termenelor vagi: când un șef zice «cât mai repede», refuzăm să ghicim o dată; punem [De confirmat] și exportăm .ics în calendar.”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 2:45</a:t>
            </a:r>
          </a:p>
          <a:p>
            <a:r>
              <a:t>„Incluziunea noastră este universală: am mapat fiecare barieră la o rezolvare concretă în cod: memorie, ADHD, vedere scăzută, autism, dislexie, auz și mobilitate motorie. Fiecare persoană își găsește mediul ideal de lucru fără să se simtă expusă sau stigmatizată.”</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 3:15</a:t>
            </a:r>
          </a:p>
          <a:p>
            <a:r>
              <a:t>„De ce nu folosește Ana ChatGPT? Pentru că ChatGPT inventează termene, ghicește date și nu se integrează cu calendarul. Limpede verifică fiecare citat, refuză să ghicească termene vagi, protejează confidențialitatea și respectă legislația europeană.”</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CUVINTE DE TRECERE LA DEMO ȘI ÎNCHEIERE:</a:t>
            </a:r>
          </a:p>
          <a:p>
            <a:r>
              <a:t>„Trecem acum la demonstrația live, unde vom vedea cum Ana își configurează nevoile fără diagnostic, încarcă ghidul de onboarding, aprinde citatul exact cu «Arată în text» și exportă termenele direct în calendar. Vă mulțumim!”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731520"/>
            <a:ext cx="347472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defRPr>
            </a:pPr>
            <a:r>
              <a:t>ACCESSABILITY HACKATHON 2026</a:t>
            </a:r>
          </a:p>
        </p:txBody>
      </p:sp>
      <p:sp>
        <p:nvSpPr>
          <p:cNvPr id="5" name="TextBox 4"/>
          <p:cNvSpPr txBox="1"/>
          <p:nvPr/>
        </p:nvSpPr>
        <p:spPr>
          <a:xfrm>
            <a:off x="914400" y="1234440"/>
            <a:ext cx="10058400" cy="2103120"/>
          </a:xfrm>
          <a:prstGeom prst="rect">
            <a:avLst/>
          </a:prstGeom>
          <a:noFill/>
        </p:spPr>
        <p:txBody>
          <a:bodyPr wrap="square">
            <a:spAutoFit/>
          </a:bodyPr>
          <a:lstStyle/>
          <a:p>
            <a:pPr>
              <a:defRPr sz="5600" b="1">
                <a:solidFill>
                  <a:srgbClr val="FFFFFF"/>
                </a:solidFill>
              </a:defRPr>
            </a:pPr>
            <a:r>
              <a:t>Limpede</a:t>
            </a:r>
          </a:p>
          <a:p>
            <a:pPr>
              <a:spcBef>
                <a:spcPts val="600"/>
              </a:spcBef>
              <a:defRPr sz="2400" b="1">
                <a:solidFill>
                  <a:srgbClr val="F59E0B"/>
                </a:solidFill>
              </a:defRPr>
            </a:pPr>
            <a:r>
              <a:t>Primul pas la primul job, fără bariere de înțelegere.</a:t>
            </a:r>
          </a:p>
          <a:p>
            <a:pPr>
              <a:spcBef>
                <a:spcPts val="400"/>
              </a:spcBef>
              <a:defRPr sz="1600" i="1">
                <a:solidFill>
                  <a:srgbClr val="94A3B8"/>
                </a:solidFill>
              </a:defRPr>
            </a:pPr>
            <a:r>
              <a:t>Adaptăm locul de muncă la om, nu invers.</a:t>
            </a:r>
          </a:p>
        </p:txBody>
      </p:sp>
      <p:sp>
        <p:nvSpPr>
          <p:cNvPr id="6" name="Rounded Rectangle 5"/>
          <p:cNvSpPr/>
          <p:nvPr/>
        </p:nvSpPr>
        <p:spPr>
          <a:xfrm>
            <a:off x="914400" y="3749039"/>
            <a:ext cx="3200400" cy="237744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2200" b="1">
                <a:solidFill>
                  <a:srgbClr val="F59E0B"/>
                </a:solidFill>
              </a:defRPr>
            </a:pPr>
            <a:r>
              <a:t>68% Abandon</a:t>
            </a:r>
          </a:p>
          <a:p>
            <a:pPr>
              <a:spcBef>
                <a:spcPts val="1000"/>
              </a:spcBef>
              <a:defRPr sz="1250">
                <a:solidFill>
                  <a:srgbClr val="E2E8F0"/>
                </a:solidFill>
              </a:defRPr>
            </a:pPr>
            <a:r>
              <a:t>din abandonurile la primul job se întâmplă din cauza comunicării inaccesibile și a fricii de stigmatizare.</a:t>
            </a:r>
          </a:p>
        </p:txBody>
      </p:sp>
      <p:sp>
        <p:nvSpPr>
          <p:cNvPr id="7" name="Rounded Rectangle 6"/>
          <p:cNvSpPr/>
          <p:nvPr/>
        </p:nvSpPr>
        <p:spPr>
          <a:xfrm>
            <a:off x="4389120" y="3749039"/>
            <a:ext cx="3200400" cy="2377440"/>
          </a:xfrm>
          <a:prstGeom prst="roundRect">
            <a:avLst/>
          </a:prstGeom>
          <a:solidFill>
            <a:srgbClr val="161F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2200" b="1">
                <a:solidFill>
                  <a:srgbClr val="38BDF8"/>
                </a:solidFill>
              </a:defRPr>
            </a:pPr>
            <a:r>
              <a:t>1 din 6 Tineri</a:t>
            </a:r>
          </a:p>
          <a:p>
            <a:pPr>
              <a:spcBef>
                <a:spcPts val="1000"/>
              </a:spcBef>
              <a:defRPr sz="1250">
                <a:solidFill>
                  <a:srgbClr val="E2E8F0"/>
                </a:solidFill>
              </a:defRPr>
            </a:pPr>
            <a:r>
              <a:t>trăiește cu o dizabilitate sau o neurodivergență (ADHD, autism, anxietate, dislexie).</a:t>
            </a:r>
          </a:p>
        </p:txBody>
      </p:sp>
      <p:sp>
        <p:nvSpPr>
          <p:cNvPr id="8" name="Rounded Rectangle 7"/>
          <p:cNvSpPr/>
          <p:nvPr/>
        </p:nvSpPr>
        <p:spPr>
          <a:xfrm>
            <a:off x="7863840" y="3749039"/>
            <a:ext cx="3200400" cy="2377440"/>
          </a:xfrm>
          <a:prstGeom prst="roundRect">
            <a:avLst/>
          </a:prstGeom>
          <a:solidFill>
            <a:srgbClr val="161F3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2200" b="1">
                <a:solidFill>
                  <a:srgbClr val="FFFFFF"/>
                </a:solidFill>
              </a:defRPr>
            </a:pPr>
            <a:r>
              <a:t>Fără Diagnostic</a:t>
            </a:r>
          </a:p>
          <a:p>
            <a:pPr>
              <a:spcBef>
                <a:spcPts val="1000"/>
              </a:spcBef>
              <a:defRPr sz="1250">
                <a:solidFill>
                  <a:srgbClr val="E2E8F0"/>
                </a:solidFill>
              </a:defRPr>
            </a:pPr>
            <a:r>
              <a:t>Nu cerem certificat medical. Interfața se adaptează 100% după nevoile și confortul tău.</a:t>
            </a:r>
          </a:p>
        </p:txBody>
      </p:sp>
    </p:spTree>
  </p:cSld>
  <p:clrMapOvr>
    <a:masterClrMapping/>
  </p:clrMapOvr>
  <p:transition xmlns:p15="http://schemas.microsoft.com/office/powerpoint/2012/main" spd="med">
    <p15:morph option="byObject"/>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29184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defRPr>
            </a:pPr>
            <a:r>
              <a:t>ECOSISTEMUL LIMPEDE</a:t>
            </a:r>
          </a:p>
        </p:txBody>
      </p:sp>
      <p:sp>
        <p:nvSpPr>
          <p:cNvPr id="4" name="TextBox 3"/>
          <p:cNvSpPr txBox="1"/>
          <p:nvPr/>
        </p:nvSpPr>
        <p:spPr>
          <a:xfrm>
            <a:off x="731520" y="868680"/>
            <a:ext cx="10698480" cy="777240"/>
          </a:xfrm>
          <a:prstGeom prst="rect">
            <a:avLst/>
          </a:prstGeom>
          <a:noFill/>
        </p:spPr>
        <p:txBody>
          <a:bodyPr wrap="square">
            <a:spAutoFit/>
          </a:bodyPr>
          <a:lstStyle/>
          <a:p>
            <a:pPr>
              <a:defRPr sz="2600" b="1">
                <a:solidFill>
                  <a:srgbClr val="FFFFFF"/>
                </a:solidFill>
              </a:defRPr>
            </a:pPr>
            <a:r>
              <a:t>O Singură Soluție, Trei Puncte de Acces</a:t>
            </a:r>
          </a:p>
          <a:p>
            <a:pPr>
              <a:spcBef>
                <a:spcPts val="400"/>
              </a:spcBef>
              <a:defRPr sz="1350">
                <a:solidFill>
                  <a:srgbClr val="38BDF8"/>
                </a:solidFill>
              </a:defRPr>
            </a:pPr>
            <a:r>
              <a:t>Creat să funcționeze oriunde muncește utilizatorul.</a:t>
            </a:r>
          </a:p>
        </p:txBody>
      </p:sp>
      <p:sp>
        <p:nvSpPr>
          <p:cNvPr id="5" name="Rounded Rectangle 4"/>
          <p:cNvSpPr/>
          <p:nvPr/>
        </p:nvSpPr>
        <p:spPr>
          <a:xfrm>
            <a:off x="731520" y="1828800"/>
            <a:ext cx="3383280" cy="438912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800" b="1">
                <a:solidFill>
                  <a:srgbClr val="0D9488"/>
                </a:solidFill>
              </a:defRPr>
            </a:pPr>
            <a:r>
              <a:t>1. Asistentul Personal (Web)</a:t>
            </a:r>
          </a:p>
          <a:p>
            <a:pPr>
              <a:spcBef>
                <a:spcPts val="400"/>
              </a:spcBef>
              <a:defRPr sz="1100" b="1">
                <a:solidFill>
                  <a:srgbClr val="94A3B8"/>
                </a:solidFill>
              </a:defRPr>
            </a:pPr>
            <a:r>
              <a:t>PENTRU ANGAJAT</a:t>
            </a:r>
          </a:p>
          <a:p>
            <a:pPr>
              <a:spcBef>
                <a:spcPts val="800"/>
              </a:spcBef>
              <a:defRPr sz="1200">
                <a:solidFill>
                  <a:srgbClr val="E2E8F0"/>
                </a:solidFill>
              </a:defRPr>
            </a:pPr>
            <a:r>
              <a:t>• Clarificare pas-cu-pas a documentelor lungi.</a:t>
            </a:r>
          </a:p>
          <a:p>
            <a:pPr>
              <a:spcBef>
                <a:spcPts val="800"/>
              </a:spcBef>
              <a:defRPr sz="1200">
                <a:solidFill>
                  <a:srgbClr val="E2E8F0"/>
                </a:solidFill>
              </a:defRPr>
            </a:pPr>
            <a:r>
              <a:t>• Card prioritar «📌 De reținut imediat».</a:t>
            </a:r>
          </a:p>
          <a:p>
            <a:pPr>
              <a:spcBef>
                <a:spcPts val="800"/>
              </a:spcBef>
              <a:defRPr sz="1200">
                <a:solidFill>
                  <a:srgbClr val="E2E8F0"/>
                </a:solidFill>
              </a:defRPr>
            </a:pPr>
            <a:r>
              <a:t>• Ancore tactile pentru date, ore și coduri cheie.</a:t>
            </a:r>
          </a:p>
          <a:p>
            <a:pPr>
              <a:spcBef>
                <a:spcPts val="800"/>
              </a:spcBef>
              <a:defRPr sz="1200">
                <a:solidFill>
                  <a:srgbClr val="E2E8F0"/>
                </a:solidFill>
              </a:defRPr>
            </a:pPr>
            <a:r>
              <a:t>• Asistent de ședințe audio -&gt; decizii scrise.</a:t>
            </a:r>
          </a:p>
          <a:p>
            <a:pPr>
              <a:spcBef>
                <a:spcPts val="800"/>
              </a:spcBef>
              <a:defRPr sz="1200">
                <a:solidFill>
                  <a:srgbClr val="E2E8F0"/>
                </a:solidFill>
              </a:defRPr>
            </a:pPr>
            <a:r>
              <a:t>• Cereri oficiale de adaptare conform legii.</a:t>
            </a:r>
          </a:p>
        </p:txBody>
      </p:sp>
      <p:sp>
        <p:nvSpPr>
          <p:cNvPr id="6" name="Rounded Rectangle 5"/>
          <p:cNvSpPr/>
          <p:nvPr/>
        </p:nvSpPr>
        <p:spPr>
          <a:xfrm>
            <a:off x="4389120" y="1828800"/>
            <a:ext cx="3383280" cy="4389120"/>
          </a:xfrm>
          <a:prstGeom prst="roundRect">
            <a:avLst/>
          </a:prstGeom>
          <a:solidFill>
            <a:srgbClr val="161F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800" b="1">
                <a:solidFill>
                  <a:srgbClr val="38BDF8"/>
                </a:solidFill>
              </a:defRPr>
            </a:pPr>
            <a:r>
              <a:t>2. Extensia de Browser</a:t>
            </a:r>
          </a:p>
          <a:p>
            <a:pPr>
              <a:spcBef>
                <a:spcPts val="400"/>
              </a:spcBef>
              <a:defRPr sz="1100" b="1">
                <a:solidFill>
                  <a:srgbClr val="94A3B8"/>
                </a:solidFill>
              </a:defRPr>
            </a:pPr>
            <a:r>
              <a:t>ORIUNDE PE WEB</a:t>
            </a:r>
          </a:p>
          <a:p>
            <a:pPr>
              <a:spcBef>
                <a:spcPts val="800"/>
              </a:spcBef>
              <a:defRPr sz="1200">
                <a:solidFill>
                  <a:srgbClr val="E2E8F0"/>
                </a:solidFill>
              </a:defRPr>
            </a:pPr>
            <a:r>
              <a:t>• Funcționează pe Confluence, Jira, Gmail, Slack.</a:t>
            </a:r>
          </a:p>
          <a:p>
            <a:pPr>
              <a:spcBef>
                <a:spcPts val="800"/>
              </a:spcBef>
              <a:defRPr sz="1200">
                <a:solidFill>
                  <a:srgbClr val="E2E8F0"/>
                </a:solidFill>
              </a:defRPr>
            </a:pPr>
            <a:r>
              <a:t>• Selectezi orice text stufos -&gt; «Fă clar».</a:t>
            </a:r>
          </a:p>
          <a:p>
            <a:pPr>
              <a:spcBef>
                <a:spcPts val="800"/>
              </a:spcBef>
              <a:defRPr sz="1200">
                <a:solidFill>
                  <a:srgbClr val="E2E8F0"/>
                </a:solidFill>
              </a:defRPr>
            </a:pPr>
            <a:r>
              <a:t>• Card plutitor Shadow DOM complet izolat.</a:t>
            </a:r>
          </a:p>
          <a:p>
            <a:pPr>
              <a:spcBef>
                <a:spcPts val="800"/>
              </a:spcBef>
              <a:defRPr sz="1200">
                <a:solidFill>
                  <a:srgbClr val="E2E8F0"/>
                </a:solidFill>
              </a:defRPr>
            </a:pPr>
            <a:r>
              <a:t>• Compresie la 35% («✂️ Mai scurt») și buline.</a:t>
            </a:r>
          </a:p>
          <a:p>
            <a:pPr>
              <a:spcBef>
                <a:spcPts val="800"/>
              </a:spcBef>
              <a:defRPr sz="1200">
                <a:solidFill>
                  <a:srgbClr val="E2E8F0"/>
                </a:solidFill>
              </a:defRPr>
            </a:pPr>
            <a:r>
              <a:t>• Sinteză vocală naturală în limba română.</a:t>
            </a:r>
          </a:p>
        </p:txBody>
      </p:sp>
      <p:sp>
        <p:nvSpPr>
          <p:cNvPr id="7" name="Rounded Rectangle 6"/>
          <p:cNvSpPr/>
          <p:nvPr/>
        </p:nvSpPr>
        <p:spPr>
          <a:xfrm>
            <a:off x="8046720" y="1828800"/>
            <a:ext cx="3383280" cy="438912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228600" lIns="228600" rIns="228600"/>
          <a:lstStyle/>
          <a:p>
            <a:pPr algn="ctr">
              <a:defRPr sz="1800" b="1">
                <a:solidFill>
                  <a:srgbClr val="F59E0B"/>
                </a:solidFill>
              </a:defRPr>
            </a:pPr>
            <a:r>
              <a:t>3. Portalul Angajatorului</a:t>
            </a:r>
          </a:p>
          <a:p>
            <a:pPr>
              <a:spcBef>
                <a:spcPts val="400"/>
              </a:spcBef>
              <a:defRPr sz="1100" b="1">
                <a:solidFill>
                  <a:srgbClr val="94A3B8"/>
                </a:solidFill>
              </a:defRPr>
            </a:pPr>
            <a:r>
              <a:t>PENTRU HR &amp; MANAGERI</a:t>
            </a:r>
          </a:p>
          <a:p>
            <a:pPr>
              <a:spcBef>
                <a:spcPts val="800"/>
              </a:spcBef>
              <a:defRPr sz="1200">
                <a:solidFill>
                  <a:srgbClr val="E2E8F0"/>
                </a:solidFill>
              </a:defRPr>
            </a:pPr>
            <a:r>
              <a:t>• Audit lizibilitate documente interne (0-100).</a:t>
            </a:r>
          </a:p>
          <a:p>
            <a:pPr>
              <a:spcBef>
                <a:spcPts val="800"/>
              </a:spcBef>
              <a:defRPr sz="1200">
                <a:solidFill>
                  <a:srgbClr val="E2E8F0"/>
                </a:solidFill>
              </a:defRPr>
            </a:pPr>
            <a:r>
              <a:t>• Detector de jargon corporatist și acronime.</a:t>
            </a:r>
          </a:p>
          <a:p>
            <a:pPr>
              <a:spcBef>
                <a:spcPts val="800"/>
              </a:spcBef>
              <a:defRPr sz="1200">
                <a:solidFill>
                  <a:srgbClr val="E2E8F0"/>
                </a:solidFill>
              </a:defRPr>
            </a:pPr>
            <a:r>
              <a:t>• Semnalare fraze peste 25 de cuvinte.</a:t>
            </a:r>
          </a:p>
          <a:p>
            <a:pPr>
              <a:spcBef>
                <a:spcPts val="800"/>
              </a:spcBef>
              <a:defRPr sz="1200">
                <a:solidFill>
                  <a:srgbClr val="E2E8F0"/>
                </a:solidFill>
              </a:defRPr>
            </a:pPr>
            <a:r>
              <a:t>• Generator automat versiune Easy-to-Read.</a:t>
            </a:r>
          </a:p>
          <a:p>
            <a:pPr>
              <a:spcBef>
                <a:spcPts val="800"/>
              </a:spcBef>
              <a:defRPr sz="1200">
                <a:solidFill>
                  <a:srgbClr val="E2E8F0"/>
                </a:solidFill>
              </a:defRPr>
            </a:pPr>
            <a:r>
              <a:t>• Conformitate ESG / CSRD și incluziune reală.</a:t>
            </a:r>
          </a:p>
        </p:txBody>
      </p:sp>
    </p:spTree>
  </p:cSld>
  <p:clrMapOvr>
    <a:masterClrMapping/>
  </p:clrMapOvr>
  <p:transition xmlns:p15="http://schemas.microsoft.com/office/powerpoint/2012/main" spd="med">
    <p15:morph option="byObject"/>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29184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defRPr>
            </a:pPr>
            <a:r>
              <a:t>CE NE FACE UNICI</a:t>
            </a:r>
          </a:p>
        </p:txBody>
      </p:sp>
      <p:sp>
        <p:nvSpPr>
          <p:cNvPr id="4" name="TextBox 3"/>
          <p:cNvSpPr txBox="1"/>
          <p:nvPr/>
        </p:nvSpPr>
        <p:spPr>
          <a:xfrm>
            <a:off x="731520" y="868680"/>
            <a:ext cx="10698480" cy="777240"/>
          </a:xfrm>
          <a:prstGeom prst="rect">
            <a:avLst/>
          </a:prstGeom>
          <a:noFill/>
        </p:spPr>
        <p:txBody>
          <a:bodyPr wrap="square">
            <a:spAutoFit/>
          </a:bodyPr>
          <a:lstStyle/>
          <a:p>
            <a:pPr>
              <a:defRPr sz="2600" b="1">
                <a:solidFill>
                  <a:srgbClr val="FFFFFF"/>
                </a:solidFill>
              </a:defRPr>
            </a:pPr>
            <a:r>
              <a:t>Cele 3 Super-Puteri ale Aplicației Limpede</a:t>
            </a:r>
          </a:p>
          <a:p>
            <a:pPr>
              <a:spcBef>
                <a:spcPts val="400"/>
              </a:spcBef>
              <a:defRPr sz="1350">
                <a:solidFill>
                  <a:srgbClr val="38BDF8"/>
                </a:solidFill>
              </a:defRPr>
            </a:pPr>
            <a:r>
              <a:t>Inovații concrete construite pentru siguranța și demnitatea utilizatorului.</a:t>
            </a:r>
          </a:p>
        </p:txBody>
      </p:sp>
      <p:sp>
        <p:nvSpPr>
          <p:cNvPr id="5" name="Rounded Rectangle 4"/>
          <p:cNvSpPr/>
          <p:nvPr/>
        </p:nvSpPr>
        <p:spPr>
          <a:xfrm>
            <a:off x="731520" y="1828800"/>
            <a:ext cx="3383280" cy="4389120"/>
          </a:xfrm>
          <a:prstGeom prst="roundRect">
            <a:avLst/>
          </a:prstGeom>
          <a:solidFill>
            <a:srgbClr val="161F30"/>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defRPr sz="1100" b="1">
                <a:solidFill>
                  <a:srgbClr val="38BDF8"/>
                </a:solidFill>
              </a:defRPr>
            </a:pPr>
            <a:r>
              <a:t>ZERO DIAGNOSTIC MEDICAL</a:t>
            </a:r>
          </a:p>
          <a:p>
            <a:pPr>
              <a:spcBef>
                <a:spcPts val="600"/>
              </a:spcBef>
              <a:defRPr sz="2000" b="1">
                <a:solidFill>
                  <a:srgbClr val="FFFFFF"/>
                </a:solidFill>
              </a:defRPr>
            </a:pPr>
            <a:r>
              <a:t>Adaptare pe Nevoi, Nu pe Boală</a:t>
            </a:r>
          </a:p>
          <a:p>
            <a:pPr>
              <a:spcBef>
                <a:spcPts val="1400"/>
              </a:spcBef>
              <a:defRPr sz="1300">
                <a:solidFill>
                  <a:srgbClr val="CBD5E1"/>
                </a:solidFill>
              </a:defRPr>
            </a:pPr>
            <a:r>
              <a:t>Interfața și modelul AI se remodelează instant după stilul tău: contrast, ritm, lungime, fonturi speciale (OpenDyslexic, Atkinson). Nu cerem niciodată certificat de handicap sau etichete de diagnostic.</a:t>
            </a:r>
          </a:p>
        </p:txBody>
      </p:sp>
      <p:sp>
        <p:nvSpPr>
          <p:cNvPr id="6" name="Rounded Rectangle 5"/>
          <p:cNvSpPr/>
          <p:nvPr/>
        </p:nvSpPr>
        <p:spPr>
          <a:xfrm>
            <a:off x="4389120" y="1828800"/>
            <a:ext cx="3383280" cy="4389120"/>
          </a:xfrm>
          <a:prstGeom prst="roundRect">
            <a:avLst/>
          </a:prstGeom>
          <a:solidFill>
            <a:srgbClr val="161F30"/>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defRPr sz="1100" b="1">
                <a:solidFill>
                  <a:srgbClr val="0D9488"/>
                </a:solidFill>
              </a:defRPr>
            </a:pPr>
            <a:r>
              <a:t>ZERO HALUCINAȚII (QUOTE GROUNDING)</a:t>
            </a:r>
          </a:p>
          <a:p>
            <a:pPr>
              <a:spcBef>
                <a:spcPts val="600"/>
              </a:spcBef>
              <a:defRPr sz="2000" b="1">
                <a:solidFill>
                  <a:srgbClr val="FFFFFF"/>
                </a:solidFill>
              </a:defRPr>
            </a:pPr>
            <a:r>
              <a:t>Clarificare &amp; «Arată în Text»</a:t>
            </a:r>
          </a:p>
          <a:p>
            <a:pPr>
              <a:spcBef>
                <a:spcPts val="1400"/>
              </a:spcBef>
              <a:defRPr sz="1300">
                <a:solidFill>
                  <a:srgbClr val="CBD5E1"/>
                </a:solidFill>
              </a:defRPr>
            </a:pPr>
            <a:r>
              <a:t>Luăm 40 de pagini de proceduri și le condensăm în 3-4 pași clari cu verbe la imperativ și cardul «📌 De reținut». Fiecare pas are butonul «Arată în text», care aprinde cu galben citatul exact din documentul original.</a:t>
            </a:r>
          </a:p>
        </p:txBody>
      </p:sp>
      <p:sp>
        <p:nvSpPr>
          <p:cNvPr id="7" name="Rounded Rectangle 6"/>
          <p:cNvSpPr/>
          <p:nvPr/>
        </p:nvSpPr>
        <p:spPr>
          <a:xfrm>
            <a:off x="8046720" y="1828800"/>
            <a:ext cx="3383280" cy="4389120"/>
          </a:xfrm>
          <a:prstGeom prst="roundRect">
            <a:avLst/>
          </a:prstGeom>
          <a:solidFill>
            <a:srgbClr val="161F3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274320" lIns="228600" rIns="228600"/>
          <a:lstStyle/>
          <a:p>
            <a:pPr algn="ctr">
              <a:defRPr sz="1100" b="1">
                <a:solidFill>
                  <a:srgbClr val="F59E0B"/>
                </a:solidFill>
              </a:defRPr>
            </a:pPr>
            <a:r>
              <a:t>NU GHICIM DATE ARBITRARE</a:t>
            </a:r>
          </a:p>
          <a:p>
            <a:pPr>
              <a:spcBef>
                <a:spcPts val="600"/>
              </a:spcBef>
              <a:defRPr sz="2000" b="1">
                <a:solidFill>
                  <a:srgbClr val="FFFFFF"/>
                </a:solidFill>
              </a:defRPr>
            </a:pPr>
            <a:r>
              <a:t>Protecție pe Termene &amp; Export .ICS</a:t>
            </a:r>
          </a:p>
          <a:p>
            <a:pPr>
              <a:spcBef>
                <a:spcPts val="1400"/>
              </a:spcBef>
              <a:defRPr sz="1300">
                <a:solidFill>
                  <a:srgbClr val="CBD5E1"/>
                </a:solidFill>
              </a:defRPr>
            </a:pPr>
            <a:r>
              <a:t>Când un manager scrie «trimite raportul cât mai repede», ChatGPT ar fi inventat o dată. Limpede refuză să ghicească: marchează cu badge galben [De confirmat] și exportă direct în Google Calendar și Outlook.</a:t>
            </a:r>
          </a:p>
        </p:txBody>
      </p:sp>
    </p:spTree>
  </p:cSld>
  <p:clrMapOvr>
    <a:masterClrMapping/>
  </p:clrMapOvr>
  <p:transition xmlns:p15="http://schemas.microsoft.com/office/powerpoint/2012/main" spd="med">
    <p15:morph option="byObject"/>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29184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defRPr>
            </a:pPr>
            <a:r>
              <a:t>SPECTRUL FUNCȚIONAL</a:t>
            </a:r>
          </a:p>
        </p:txBody>
      </p:sp>
      <p:sp>
        <p:nvSpPr>
          <p:cNvPr id="4" name="TextBox 3"/>
          <p:cNvSpPr txBox="1"/>
          <p:nvPr/>
        </p:nvSpPr>
        <p:spPr>
          <a:xfrm>
            <a:off x="731520" y="868680"/>
            <a:ext cx="10698480" cy="777240"/>
          </a:xfrm>
          <a:prstGeom prst="rect">
            <a:avLst/>
          </a:prstGeom>
          <a:noFill/>
        </p:spPr>
        <p:txBody>
          <a:bodyPr wrap="square">
            <a:spAutoFit/>
          </a:bodyPr>
          <a:lstStyle/>
          <a:p>
            <a:pPr>
              <a:defRPr sz="2600" b="1">
                <a:solidFill>
                  <a:srgbClr val="FFFFFF"/>
                </a:solidFill>
              </a:defRPr>
            </a:pPr>
            <a:r>
              <a:t>Design Universal: Ceva Concret pentru Fiecare Nevoie</a:t>
            </a:r>
          </a:p>
          <a:p>
            <a:pPr>
              <a:spcBef>
                <a:spcPts val="400"/>
              </a:spcBef>
              <a:defRPr sz="1350">
                <a:solidFill>
                  <a:srgbClr val="38BDF8"/>
                </a:solidFill>
              </a:defRPr>
            </a:pPr>
            <a:r>
              <a:t>Cum rezolvăm tehnic fiecare barieră la locul de muncă.</a:t>
            </a:r>
          </a:p>
        </p:txBody>
      </p:sp>
      <p:sp>
        <p:nvSpPr>
          <p:cNvPr id="5" name="Rounded Rectangle 4"/>
          <p:cNvSpPr/>
          <p:nvPr/>
        </p:nvSpPr>
        <p:spPr>
          <a:xfrm>
            <a:off x="731520" y="1828800"/>
            <a:ext cx="3383280" cy="196596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D9488"/>
                </a:solidFill>
              </a:defRPr>
            </a:pPr>
            <a:r>
              <a:t>Memorie &amp; Reținere</a:t>
            </a:r>
          </a:p>
          <a:p>
            <a:pPr>
              <a:spcBef>
                <a:spcPts val="800"/>
              </a:spcBef>
              <a:defRPr sz="1200">
                <a:solidFill>
                  <a:srgbClr val="E2E8F0"/>
                </a:solidFill>
              </a:defRPr>
            </a:pPr>
            <a:r>
              <a:t>Card prioritar «📌 De reținut», ancore tactile mărite pentru date și ore.</a:t>
            </a:r>
          </a:p>
        </p:txBody>
      </p:sp>
      <p:sp>
        <p:nvSpPr>
          <p:cNvPr id="6" name="Rounded Rectangle 5"/>
          <p:cNvSpPr/>
          <p:nvPr/>
        </p:nvSpPr>
        <p:spPr>
          <a:xfrm>
            <a:off x="4389120" y="1828800"/>
            <a:ext cx="3383280" cy="1965960"/>
          </a:xfrm>
          <a:prstGeom prst="roundRect">
            <a:avLst/>
          </a:prstGeom>
          <a:solidFill>
            <a:srgbClr val="161F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38BDF8"/>
                </a:solidFill>
              </a:defRPr>
            </a:pPr>
            <a:r>
              <a:t>ADHD &amp; Atenție</a:t>
            </a:r>
          </a:p>
          <a:p>
            <a:pPr>
              <a:spcBef>
                <a:spcPts val="800"/>
              </a:spcBef>
              <a:defRPr sz="1200">
                <a:solidFill>
                  <a:srgbClr val="E2E8F0"/>
                </a:solidFill>
              </a:defRPr>
            </a:pPr>
            <a:r>
              <a:t>Filtru politețuri sterile; maximum 3-4 pași imperativi sub 10 cuvinte.</a:t>
            </a:r>
          </a:p>
        </p:txBody>
      </p:sp>
      <p:sp>
        <p:nvSpPr>
          <p:cNvPr id="7" name="Rounded Rectangle 6"/>
          <p:cNvSpPr/>
          <p:nvPr/>
        </p:nvSpPr>
        <p:spPr>
          <a:xfrm>
            <a:off x="8046720" y="1828800"/>
            <a:ext cx="3383280" cy="196596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F59E0B"/>
                </a:solidFill>
              </a:defRPr>
            </a:pPr>
            <a:r>
              <a:t>Vedere Scăzută</a:t>
            </a:r>
          </a:p>
          <a:p>
            <a:pPr>
              <a:spcBef>
                <a:spcPts val="800"/>
              </a:spcBef>
              <a:defRPr sz="1200">
                <a:solidFill>
                  <a:srgbClr val="E2E8F0"/>
                </a:solidFill>
              </a:defRPr>
            </a:pPr>
            <a:r>
              <a:t>Temă Contrast Ridicat 19.5:1 AAA, scalare 200%, pilule tactile mari.</a:t>
            </a:r>
          </a:p>
        </p:txBody>
      </p:sp>
      <p:sp>
        <p:nvSpPr>
          <p:cNvPr id="8" name="Rounded Rectangle 7"/>
          <p:cNvSpPr/>
          <p:nvPr/>
        </p:nvSpPr>
        <p:spPr>
          <a:xfrm>
            <a:off x="731520" y="4023360"/>
            <a:ext cx="3383280" cy="196596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0D9488"/>
                </a:solidFill>
              </a:defRPr>
            </a:pPr>
            <a:r>
              <a:t>Autism &amp; Literalitate</a:t>
            </a:r>
          </a:p>
          <a:p>
            <a:pPr>
              <a:spcBef>
                <a:spcPts val="800"/>
              </a:spcBef>
              <a:defRPr sz="1200">
                <a:solidFill>
                  <a:srgbClr val="E2E8F0"/>
                </a:solidFill>
              </a:defRPr>
            </a:pPr>
            <a:r>
              <a:t>Decodificare cereri indirecte; etichetă: (posibilă glumă — nesigur).</a:t>
            </a:r>
          </a:p>
        </p:txBody>
      </p:sp>
      <p:sp>
        <p:nvSpPr>
          <p:cNvPr id="9" name="Rounded Rectangle 8"/>
          <p:cNvSpPr/>
          <p:nvPr/>
        </p:nvSpPr>
        <p:spPr>
          <a:xfrm>
            <a:off x="4389120" y="4023360"/>
            <a:ext cx="3383280" cy="1965960"/>
          </a:xfrm>
          <a:prstGeom prst="roundRect">
            <a:avLst/>
          </a:prstGeom>
          <a:solidFill>
            <a:srgbClr val="161F3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38BDF8"/>
                </a:solidFill>
              </a:defRPr>
            </a:pPr>
            <a:r>
              <a:t>Dislexie</a:t>
            </a:r>
          </a:p>
          <a:p>
            <a:pPr>
              <a:spcBef>
                <a:spcPts val="800"/>
              </a:spcBef>
              <a:defRPr sz="1200">
                <a:solidFill>
                  <a:srgbClr val="E2E8F0"/>
                </a:solidFill>
              </a:defRPr>
            </a:pPr>
            <a:r>
              <a:t>Fonturi speciale OpenDyslexic &amp; Atkinson Hyperlegible, ghidaj bionic.</a:t>
            </a:r>
          </a:p>
        </p:txBody>
      </p:sp>
      <p:sp>
        <p:nvSpPr>
          <p:cNvPr id="10" name="Rounded Rectangle 9"/>
          <p:cNvSpPr/>
          <p:nvPr/>
        </p:nvSpPr>
        <p:spPr>
          <a:xfrm>
            <a:off x="8046720" y="4023360"/>
            <a:ext cx="3383280" cy="196596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600" b="1">
                <a:solidFill>
                  <a:srgbClr val="F59E0B"/>
                </a:solidFill>
              </a:defRPr>
            </a:pPr>
            <a:r>
              <a:t>Auz &amp; Mobilitate</a:t>
            </a:r>
          </a:p>
          <a:p>
            <a:pPr>
              <a:spcBef>
                <a:spcPts val="800"/>
              </a:spcBef>
              <a:defRPr sz="1200">
                <a:solidFill>
                  <a:srgbClr val="E2E8F0"/>
                </a:solidFill>
              </a:defRPr>
            </a:pPr>
            <a:r>
              <a:t>Audio -&gt; decizii scrise cu responsabili; navigare 100% tastatură (Alt+Shift+S).</a:t>
            </a:r>
          </a:p>
        </p:txBody>
      </p:sp>
    </p:spTree>
  </p:cSld>
  <p:clrMapOvr>
    <a:masterClrMapping/>
  </p:clrMapOvr>
  <p:transition xmlns:p15="http://schemas.microsoft.com/office/powerpoint/2012/main" spd="med">
    <p15:morph option="byObject"/>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3291840" cy="347472"/>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0B0F19"/>
                </a:solidFill>
              </a:defRPr>
            </a:pPr>
            <a:r>
              <a:t>DE CE LIMPEDE?</a:t>
            </a:r>
          </a:p>
        </p:txBody>
      </p:sp>
      <p:sp>
        <p:nvSpPr>
          <p:cNvPr id="4" name="TextBox 3"/>
          <p:cNvSpPr txBox="1"/>
          <p:nvPr/>
        </p:nvSpPr>
        <p:spPr>
          <a:xfrm>
            <a:off x="731520" y="868680"/>
            <a:ext cx="10698480" cy="777240"/>
          </a:xfrm>
          <a:prstGeom prst="rect">
            <a:avLst/>
          </a:prstGeom>
          <a:noFill/>
        </p:spPr>
        <p:txBody>
          <a:bodyPr wrap="square">
            <a:spAutoFit/>
          </a:bodyPr>
          <a:lstStyle/>
          <a:p>
            <a:pPr>
              <a:defRPr sz="2600" b="1">
                <a:solidFill>
                  <a:srgbClr val="FFFFFF"/>
                </a:solidFill>
              </a:defRPr>
            </a:pPr>
            <a:r>
              <a:t>De Ce Nu Instrumentele Generice (ChatGPT / Grammarly)?</a:t>
            </a:r>
          </a:p>
          <a:p>
            <a:pPr>
              <a:spcBef>
                <a:spcPts val="400"/>
              </a:spcBef>
              <a:defRPr sz="1350">
                <a:solidFill>
                  <a:srgbClr val="38BDF8"/>
                </a:solidFill>
              </a:defRPr>
            </a:pPr>
            <a:r>
              <a:t>Diferențiatorii esențiali care ne separă subtil și categoric de competiție.</a:t>
            </a:r>
          </a:p>
        </p:txBody>
      </p:sp>
      <p:sp>
        <p:nvSpPr>
          <p:cNvPr id="5" name="Rounded Rectangle 4"/>
          <p:cNvSpPr/>
          <p:nvPr/>
        </p:nvSpPr>
        <p:spPr>
          <a:xfrm>
            <a:off x="731520" y="1828800"/>
            <a:ext cx="5212080" cy="2011680"/>
          </a:xfrm>
          <a:prstGeom prst="roundRect">
            <a:avLst/>
          </a:prstGeom>
          <a:solidFill>
            <a:srgbClr val="161F30"/>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600" b="1">
                <a:solidFill>
                  <a:srgbClr val="F59E0B"/>
                </a:solidFill>
              </a:defRPr>
            </a:pPr>
            <a:r>
              <a:t>Garantarea Veridicității (Zero Halucinații)</a:t>
            </a:r>
          </a:p>
          <a:p>
            <a:pPr>
              <a:spcBef>
                <a:spcPts val="800"/>
              </a:spcBef>
              <a:defRPr sz="1200">
                <a:solidFill>
                  <a:srgbClr val="E2E8F0"/>
                </a:solidFill>
              </a:defRPr>
            </a:pPr>
            <a:r>
              <a:t>Instrumentele generice inventează detalii și date limită când nu știu. Limpede verifică matematic fiecare citat cu funcția «Arată în text». Dacă nu e în document, nu există.</a:t>
            </a:r>
          </a:p>
        </p:txBody>
      </p:sp>
      <p:sp>
        <p:nvSpPr>
          <p:cNvPr id="6" name="Rounded Rectangle 5"/>
          <p:cNvSpPr/>
          <p:nvPr/>
        </p:nvSpPr>
        <p:spPr>
          <a:xfrm>
            <a:off x="6217920" y="1828800"/>
            <a:ext cx="5212080" cy="201168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600" b="1">
                <a:solidFill>
                  <a:srgbClr val="38BDF8"/>
                </a:solidFill>
              </a:defRPr>
            </a:pPr>
            <a:r>
              <a:t>Protecție la Erori de Birou</a:t>
            </a:r>
          </a:p>
          <a:p>
            <a:pPr>
              <a:spcBef>
                <a:spcPts val="800"/>
              </a:spcBef>
              <a:defRPr sz="1200">
                <a:solidFill>
                  <a:srgbClr val="E2E8F0"/>
                </a:solidFill>
              </a:defRPr>
            </a:pPr>
            <a:r>
              <a:t>Nu ghicim termene vagi. La «cât mai repede», ChatGPT ar pune o dată arbitrară. Noi punem [De confirmat] și descărcăm automat în Google Calendar / Outlook.</a:t>
            </a:r>
          </a:p>
        </p:txBody>
      </p:sp>
      <p:sp>
        <p:nvSpPr>
          <p:cNvPr id="7" name="Rounded Rectangle 6"/>
          <p:cNvSpPr/>
          <p:nvPr/>
        </p:nvSpPr>
        <p:spPr>
          <a:xfrm>
            <a:off x="731520" y="4069080"/>
            <a:ext cx="5212080" cy="201168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600" b="1">
                <a:solidFill>
                  <a:srgbClr val="38BDF8"/>
                </a:solidFill>
              </a:defRPr>
            </a:pPr>
            <a:r>
              <a:t>Confidențialitate Fără Diagnostic</a:t>
            </a:r>
          </a:p>
          <a:p>
            <a:pPr>
              <a:spcBef>
                <a:spcPts val="800"/>
              </a:spcBef>
              <a:defRPr sz="1200">
                <a:solidFill>
                  <a:srgbClr val="E2E8F0"/>
                </a:solidFill>
              </a:defRPr>
            </a:pPr>
            <a:r>
              <a:t>Nu cerem dosar medical sau certificat de handicap. Datele rămân 100% în browser (localStorage) și nu sunt trimise niciodată pentru antrenarea modelelor.</a:t>
            </a:r>
          </a:p>
        </p:txBody>
      </p:sp>
      <p:sp>
        <p:nvSpPr>
          <p:cNvPr id="8" name="Rounded Rectangle 7"/>
          <p:cNvSpPr/>
          <p:nvPr/>
        </p:nvSpPr>
        <p:spPr>
          <a:xfrm>
            <a:off x="6217920" y="4069080"/>
            <a:ext cx="5212080" cy="2011680"/>
          </a:xfrm>
          <a:prstGeom prst="roundRect">
            <a:avLst/>
          </a:prstGeom>
          <a:solidFill>
            <a:srgbClr val="161F30"/>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defRPr sz="1600" b="1">
                <a:solidFill>
                  <a:srgbClr val="38BDF8"/>
                </a:solidFill>
              </a:defRPr>
            </a:pPr>
            <a:r>
              <a:t>Conformitate Europeană (EU AI Act)</a:t>
            </a:r>
          </a:p>
          <a:p>
            <a:pPr>
              <a:spcBef>
                <a:spcPts val="800"/>
              </a:spcBef>
              <a:defRPr sz="1200">
                <a:solidFill>
                  <a:srgbClr val="E2E8F0"/>
                </a:solidFill>
              </a:defRPr>
            </a:pPr>
            <a:r>
              <a:t>Respectăm strict Articolul 5 interzicând deducerea emoțiilor la locul de muncă. Funcționăm 100% offline în caz de cădere de rețea cu motorul euristic local.</a:t>
            </a:r>
          </a:p>
        </p:txBody>
      </p:sp>
    </p:spTree>
  </p:cSld>
  <p:clrMapOvr>
    <a:masterClrMapping/>
  </p:clrMapOvr>
  <p:transition xmlns:p15="http://schemas.microsoft.com/office/powerpoint/2012/main" spd="med">
    <p15:morph option="byObject"/>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89120" y="731520"/>
            <a:ext cx="338328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100" b="1">
                <a:solidFill>
                  <a:srgbClr val="FFFFFF"/>
                </a:solidFill>
              </a:defRPr>
            </a:pPr>
            <a:r>
              <a:t>LIVE DEMO &amp; CONCLUZIE</a:t>
            </a:r>
          </a:p>
        </p:txBody>
      </p:sp>
      <p:sp>
        <p:nvSpPr>
          <p:cNvPr id="4" name="TextBox 3"/>
          <p:cNvSpPr txBox="1"/>
          <p:nvPr/>
        </p:nvSpPr>
        <p:spPr>
          <a:xfrm>
            <a:off x="914400" y="1280160"/>
            <a:ext cx="10332720" cy="1645920"/>
          </a:xfrm>
          <a:prstGeom prst="rect">
            <a:avLst/>
          </a:prstGeom>
          <a:noFill/>
        </p:spPr>
        <p:txBody>
          <a:bodyPr wrap="square">
            <a:spAutoFit/>
          </a:bodyPr>
          <a:lstStyle/>
          <a:p>
            <a:pPr algn="ctr">
              <a:defRPr sz="4400" b="1">
                <a:solidFill>
                  <a:srgbClr val="FFFFFF"/>
                </a:solidFill>
              </a:defRPr>
            </a:pPr>
            <a:r>
              <a:t>Să vedem Limpede în acțiune!</a:t>
            </a:r>
          </a:p>
          <a:p>
            <a:pPr algn="ctr">
              <a:spcBef>
                <a:spcPts val="800"/>
              </a:spcBef>
              <a:defRPr sz="1800">
                <a:solidFill>
                  <a:srgbClr val="38BDF8"/>
                </a:solidFill>
              </a:defRPr>
            </a:pPr>
            <a:r>
              <a:t>Trecem la demonstrația live pe platformă și pe extensia de browser.</a:t>
            </a:r>
          </a:p>
        </p:txBody>
      </p:sp>
      <p:sp>
        <p:nvSpPr>
          <p:cNvPr id="5" name="Rounded Rectangle 4"/>
          <p:cNvSpPr/>
          <p:nvPr/>
        </p:nvSpPr>
        <p:spPr>
          <a:xfrm>
            <a:off x="1371600" y="3291840"/>
            <a:ext cx="9418320" cy="2560320"/>
          </a:xfrm>
          <a:prstGeom prst="roundRect">
            <a:avLst/>
          </a:prstGeom>
          <a:solidFill>
            <a:srgbClr val="161F3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365760" lIns="457200" rIns="457200"/>
          <a:lstStyle/>
          <a:p>
            <a:pPr algn="ctr">
              <a:defRPr sz="2200" b="1" i="1">
                <a:solidFill>
                  <a:srgbClr val="FFFFFF"/>
                </a:solidFill>
              </a:defRPr>
            </a:pPr>
            <a:r>
              <a:t>„Cu Limpede, prima zi de muncă nu mai este un test de anduranță cognitivă sau o sursă de panică, ci un parteneriat bazat pe claritate, demnitate și performanță.”</a:t>
            </a:r>
          </a:p>
        </p:txBody>
      </p:sp>
    </p:spTree>
  </p:cSld>
  <p:clrMapOvr>
    <a:masterClrMapping/>
  </p:clrMapOvr>
  <p:transition xmlns:p15="http://schemas.microsoft.com/office/powerpoint/2012/main" spd="med">
    <p15:morph option="byObjec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