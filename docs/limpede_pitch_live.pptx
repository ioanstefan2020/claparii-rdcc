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MRR</c:v>
                </c:pt>
              </c:strCache>
            </c:strRef>
          </c:tx>
          <c:spPr>
            <a:solidFill>
              <a:srgbClr val="7C4DEF"/>
            </a:solidFill>
            <a:ln w="31750" cap="flat">
              <a:solidFill>
                <a:srgbClr val="7C4DEF"/>
              </a:solidFill>
              <a:prstDash val="solid"/>
              <a:round/>
            </a:ln>
            <a:effectLst/>
          </c:spPr>
          <c:invertIfNegative val="0"/>
          <c:dLbls>
            <c:numFmt formatCode="#,##0" sourceLinked="0"/>
            <c:txPr>
              <a:bodyPr/>
              <a:lstStyle/>
              <a:p>
                <a:pPr>
                  <a:defRPr b="0" i="0" strike="noStrike" sz="900" u="none">
                    <a:solidFill>
                      <a:srgbClr val="F5F3FB"/>
                    </a:solidFill>
                    <a:latin typeface="Consolas"/>
                  </a:defRPr>
                </a:pPr>
              </a:p>
            </c:txPr>
            <c:dLblPos val="t"/>
            <c:showLegendKey val="0"/>
            <c:showVal val="1"/>
            <c:showCatName val="0"/>
            <c:showSerName val="0"/>
            <c:showPercent val="0"/>
            <c:showBubbleSize val="0"/>
            <c:showLeaderLines val="0"/>
          </c:dLbls>
          <c:marker>
            <c:symbol val="circle"/>
            <c:size val="6"/>
            <c:spPr>
              <a:solidFill>
                <a:srgbClr val="7C4DEF"/>
              </a:solidFill>
              <a:ln w="9525" cap="flat">
                <a:solidFill>
                  <a:srgbClr val="7C4DEF"/>
                </a:solidFill>
                <a:prstDash val="solid"/>
                <a:round/>
              </a:ln>
              <a:effectLst/>
            </c:spPr>
          </c:marker>
          <c:cat>
            <c:multiLvlStrRef>
              <c:f>Sheet1!$A$2:$A$10</c:f>
              <c:multiLvlStrCache>
                <c:ptCount val="9"/>
                <c:lvl>
                  <c:pt idx="0">
                    <c:v>M1</c:v>
                  </c:pt>
                  <c:pt idx="1">
                    <c:v>M2</c:v>
                  </c:pt>
                  <c:pt idx="2">
                    <c:v>M3</c:v>
                  </c:pt>
                  <c:pt idx="3">
                    <c:v>M4</c:v>
                  </c:pt>
                  <c:pt idx="4">
                    <c:v>M5</c:v>
                  </c:pt>
                  <c:pt idx="5">
                    <c:v>M6</c:v>
                  </c:pt>
                  <c:pt idx="6">
                    <c:v>M7</c:v>
                  </c:pt>
                  <c:pt idx="7">
                    <c:v>M8</c:v>
                  </c:pt>
                  <c:pt idx="8">
                    <c:v>M9</c:v>
                  </c:pt>
                </c:lvl>
              </c:multiLvlStrCache>
            </c:multiLvlStrRef>
          </c:cat>
          <c:val>
            <c:numRef>
              <c:f>Sheet1!$B$2:$B$10</c:f>
              <c:numCache>
                <c:formatCode>General</c:formatCode>
                <c:ptCount val="9"/>
                <c:pt idx="0">
                  <c:v>2</c:v>
                </c:pt>
                <c:pt idx="1">
                  <c:v>3</c:v>
                </c:pt>
                <c:pt idx="2">
                  <c:v>4</c:v>
                </c:pt>
                <c:pt idx="3">
                  <c:v>6</c:v>
                </c:pt>
                <c:pt idx="4">
                  <c:v>8</c:v>
                </c:pt>
                <c:pt idx="5">
                  <c:v>11</c:v>
                </c:pt>
                <c:pt idx="6">
                  <c:v>14</c:v>
                </c:pt>
                <c:pt idx="7">
                  <c:v>18</c:v>
                </c:pt>
                <c:pt idx="8">
                  <c:v>22</c:v>
                </c:pt>
              </c:numCache>
            </c:numRef>
          </c:val>
          <c:smooth val="1"/>
        </c:ser>
        <c:dLbls>
          <c:numFmt formatCode="#,##0" sourceLinked="0"/>
          <c:txPr>
            <a:bodyPr/>
            <a:lstStyle/>
            <a:p>
              <a:pPr>
                <a:defRPr b="0" i="0" strike="noStrike" sz="900" u="none">
                  <a:solidFill>
                    <a:srgbClr val="F5F3FB"/>
                  </a:solidFill>
                  <a:latin typeface="Consolas"/>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30303F"/>
            </a:solidFill>
            <a:prstDash val="solid"/>
            <a:round/>
          </a:ln>
        </c:spPr>
        <c:txPr>
          <a:bodyPr/>
          <a:lstStyle/>
          <a:p>
            <a:pPr>
              <a:defRPr sz="900" b="0" i="0" u="none" strike="noStrike">
                <a:solidFill>
                  <a:srgbClr val="B7B2C7"/>
                </a:solidFill>
                <a:latin typeface="Consola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30303F"/>
              </a:solidFill>
              <a:prstDash val="solid"/>
              <a:round/>
            </a:ln>
          </c:spPr>
        </c:majorGridlines>
        <c:numFmt formatCode="General" sourceLinked="0"/>
        <c:majorTickMark val="out"/>
        <c:minorTickMark val="none"/>
        <c:tickLblPos val="nextTo"/>
        <c:spPr>
          <a:ln w="12700" cap="flat">
            <a:solidFill>
              <a:srgbClr val="30303F"/>
            </a:solidFill>
            <a:prstDash val="solid"/>
            <a:round/>
          </a:ln>
        </c:spPr>
        <c:txPr>
          <a:bodyPr/>
          <a:lstStyle/>
          <a:p>
            <a:pPr>
              <a:defRPr sz="900" b="0" i="0" u="none" strike="noStrike">
                <a:solidFill>
                  <a:srgbClr val="736E85"/>
                </a:solidFill>
                <a:latin typeface="Consola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 1:00 (1:00 min)</a:t>
            </a:r>
          </a:p>
          <a:p>
            <a:r>
              <a:t>„Faceți cunoștință cu Ana. Are 23 de ani, a terminat facultatea și astăzi este prima ei zi de muncă. În primele 2 ore de la sosire, primește un teanc de 40 de pagini de proceduri birocratice, e-mailuri cu termene vagi precum «cât mai repede» și instrucțiuni confuze.</a:t>
            </a:r>
          </a:p>
          <a:p>
            <a:r>
              <a:t>Ana are ADHD și anxietate socială. Îi este o frică paralizantă să întrebe pentru a treia oară ce înseamnă un termen intern, de teamă să nu pară incompetentă în perioada de probă.</a:t>
            </a:r>
          </a:p>
          <a:p>
            <a:r>
              <a:t>În România și în UE, 1 din 6 tineri trăiește cu o dizabilitate, iar 68% din abandonurile primului job se întâmplă din cauza comunicării inaccesibile și a fricii de stigmatizare. Pentru ei am creat Limpede: adaptăm locul de muncă la om, nu invers.”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 1:30 (0:30 min)</a:t>
            </a:r>
          </a:p>
          <a:p>
            <a:r>
              <a:t>„Blocajul nu e la om, ci la documente: proceduri scrise în limbaj de lemn, acronime neexplicate și instrucțiuni confuze. Când ai o neurodivergență sau o dizabilitate, efortul de decodare e copleșitor. Aici intervine Limpede.”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 – 2:05 (0:35 min)</a:t>
            </a:r>
          </a:p>
          <a:p>
            <a:r>
              <a:t>„Fluxul este simplu și intuitiv: selectezi textul stufos, Limpede îl reduce la 3 pași esențiali cu verbe la imperativ, iar tu ai butonul «Arată în text» care îți luminează dovada din documentul original. Fără halucinații.”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2:05 – 2:40 (0:35 min)</a:t>
            </a:r>
          </a:p>
          <a:p>
            <a:r>
              <a:t>„Trei inovații cheie:</a:t>
            </a:r>
          </a:p>
          <a:p>
            <a:r>
              <a:t>1. Funcția «Arată în text» oferă dovada matematică a sursei: un click derulează documentul și aprinde citatul exact. Zero halucinații.</a:t>
            </a:r>
          </a:p>
          <a:p>
            <a:r>
              <a:t>2. Protejăm angajatul împotriva termenelor vagi: când un șef zice «cât mai repede», refuzăm să ghicim o dată; punem [De confirmat] și exportăm .ics în calendar.</a:t>
            </a:r>
          </a:p>
          <a:p>
            <a:r>
              <a:t>3. Nu cerem diagnostic medical. Personalizarea se bazează pe nevoi reale de confort, iar datele rămân în browserul tău.”</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2:40 – 3:10 (0:30 min)</a:t>
            </a:r>
          </a:p>
          <a:p>
            <a:r>
              <a:t>„Design universal în practică: fiecare barieră funcțională are un răspuns tehnic în Limpede, de la contrast extrem și fonturi pentru dislexie până la decodificarea limbajului indirect de birou.”</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3:10 – 3:40 (0:30 min)</a:t>
            </a:r>
          </a:p>
          <a:p>
            <a:r>
              <a:t>„O suită bilaterală: angajatul primește sprijin pe loc, iar angajatorul primește portalul de audit HR care îl ajută să scrie documente umane încă din prima zi.”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 – 4:10 (0:30 min)</a:t>
            </a:r>
          </a:p>
          <a:p>
            <a:r>
              <a:t>„De ce nu folosește Ana ChatGPT? Pentru că ChatGPT inventează termene, ghicește date și nu se integrează cu calendarul. Limpede verifică fiecare citat, refuză să ghicească termene vagi, protejează confidențialitatea și respectă legislația europeană.”</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4:10 – 6:30 (Live Demo)</a:t>
            </a:r>
          </a:p>
          <a:p>
            <a:r>
              <a:t>Trecem acum la demonstrația practică pe ecran: profil fără diagnostic, PDF cu «Arată în text», alertă de termen vag cu export calendar, extensia pe Jira/Slack și auditul HR.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6:30 – 7:00 (0:30 min)</a:t>
            </a:r>
          </a:p>
          <a:p>
            <a:r>
              <a:t>„Cu Limpede, prima zi de muncă nu mai este un test de anduranță cognitivă sau o sursă de panică, ci un parteneriat bazat pe claritate, demnitate și performanță.</a:t>
            </a:r>
          </a:p>
          <a:p>
            <a:r>
              <a:t>Vă mulțumim și așteptăm cu entuziasm întrebările dumneavoastră!”</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chart" Target="../charts/chart1.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glow_teal.png">    </p:cNvPr>
          <p:cNvPicPr>
            <a:picLocks noChangeAspect="1"/>
          </p:cNvPicPr>
          <p:nvPr/>
        </p:nvPicPr>
        <p:blipFill>
          <a:blip r:embed="rId2"/>
          <a:stretch>
            <a:fillRect/>
          </a:stretch>
        </p:blipFill>
        <p:spPr>
          <a:xfrm>
            <a:off x="-914400" y="4023360"/>
            <a:ext cx="6583680" cy="3657600"/>
          </a:xfrm>
          <a:prstGeom prst="rect">
            <a:avLst/>
          </a:prstGeom>
        </p:spPr>
      </p:pic>
      <p:pic>
        <p:nvPicPr>
          <p:cNvPr id="4" name="Image 2" descr="/home/claude/ip/logo_trim.png">    </p:cNvPr>
          <p:cNvPicPr>
            <a:picLocks noChangeAspect="1"/>
          </p:cNvPicPr>
          <p:nvPr/>
        </p:nvPicPr>
        <p:blipFill>
          <a:blip r:embed="rId3"/>
          <a:stretch>
            <a:fillRect/>
          </a:stretch>
        </p:blipFill>
        <p:spPr>
          <a:xfrm>
            <a:off x="566928" y="502920"/>
            <a:ext cx="310896" cy="346904"/>
          </a:xfrm>
          <a:prstGeom prst="rect">
            <a:avLst/>
          </a:prstGeom>
        </p:spPr>
      </p:pic>
      <p:sp>
        <p:nvSpPr>
          <p:cNvPr id="5" name="Text 0"/>
          <p:cNvSpPr/>
          <p:nvPr/>
        </p:nvSpPr>
        <p:spPr>
          <a:xfrm>
            <a:off x="987552" y="457200"/>
            <a:ext cx="3657600" cy="365760"/>
          </a:xfrm>
          <a:prstGeom prst="rect">
            <a:avLst/>
          </a:prstGeom>
          <a:noFill/>
          <a:ln/>
        </p:spPr>
        <p:txBody>
          <a:bodyPr wrap="square" rtlCol="0" anchor="ctr"/>
          <a:lstStyle/>
          <a:p>
            <a:r>
              <a:rPr sz="1300" b="1">
                <a:solidFill>
                  <a:srgbClr val="F5F3FB"/>
                </a:solidFill>
                <a:latin typeface="Consolas"/>
              </a:rPr>
              <a:t>LIMPEDE</a:t>
            </a:r>
          </a:p>
        </p:txBody>
      </p:sp>
      <p:sp>
        <p:nvSpPr>
          <p:cNvPr id="6" name="Text 1"/>
          <p:cNvSpPr/>
          <p:nvPr/>
        </p:nvSpPr>
        <p:spPr>
          <a:xfrm>
            <a:off x="2487168" y="457200"/>
            <a:ext cx="4572000" cy="365760"/>
          </a:xfrm>
          <a:prstGeom prst="rect">
            <a:avLst/>
          </a:prstGeom>
          <a:noFill/>
          <a:ln/>
        </p:spPr>
        <p:txBody>
          <a:bodyPr wrap="square" rtlCol="0" anchor="ctr"/>
          <a:lstStyle/>
          <a:p>
            <a:r>
              <a:rPr sz="1000">
                <a:solidFill>
                  <a:srgbClr val="736E85"/>
                </a:solidFill>
                <a:latin typeface="Consolas"/>
              </a:rPr>
              <a:t>·  PRIMUL JOB, FĂRĂ BARIERE</a:t>
            </a:r>
          </a:p>
        </p:txBody>
      </p:sp>
      <p:sp>
        <p:nvSpPr>
          <p:cNvPr id="7" name="Text 2"/>
          <p:cNvSpPr/>
          <p:nvPr/>
        </p:nvSpPr>
        <p:spPr>
          <a:xfrm>
            <a:off x="566928" y="2148840"/>
            <a:ext cx="8229600" cy="310896"/>
          </a:xfrm>
          <a:prstGeom prst="rect">
            <a:avLst/>
          </a:prstGeom>
          <a:noFill/>
          <a:ln/>
        </p:spPr>
        <p:txBody>
          <a:bodyPr wrap="square" rtlCol="0" anchor="ctr"/>
          <a:lstStyle/>
          <a:p>
            <a:r>
              <a:rPr sz="1200" b="1">
                <a:solidFill>
                  <a:srgbClr val="E8534E"/>
                </a:solidFill>
                <a:latin typeface="Consolas"/>
              </a:rPr>
              <a:t>ACCESSABILITY · 2026</a:t>
            </a:r>
          </a:p>
        </p:txBody>
      </p:sp>
      <p:sp>
        <p:nvSpPr>
          <p:cNvPr id="8" name="Text 3"/>
          <p:cNvSpPr/>
          <p:nvPr/>
        </p:nvSpPr>
        <p:spPr>
          <a:xfrm>
            <a:off x="566928" y="2514600"/>
            <a:ext cx="10058400" cy="1554480"/>
          </a:xfrm>
          <a:prstGeom prst="rect">
            <a:avLst/>
          </a:prstGeom>
          <a:noFill/>
          <a:ln/>
        </p:spPr>
        <p:txBody>
          <a:bodyPr wrap="square" rtlCol="0" anchor="t"/>
          <a:lstStyle/>
          <a:p>
            <a:r>
              <a:rPr sz="5800" b="1">
                <a:solidFill>
                  <a:srgbClr val="F5F3FB"/>
                </a:solidFill>
                <a:latin typeface="Arial"/>
              </a:rPr>
              <a:t>Limpede</a:t>
            </a:r>
          </a:p>
        </p:txBody>
      </p:sp>
      <p:sp>
        <p:nvSpPr>
          <p:cNvPr id="9" name="Text 4"/>
          <p:cNvSpPr/>
          <p:nvPr/>
        </p:nvSpPr>
        <p:spPr>
          <a:xfrm>
            <a:off x="566928" y="4160520"/>
            <a:ext cx="7863840" cy="1005840"/>
          </a:xfrm>
          <a:prstGeom prst="rect">
            <a:avLst/>
          </a:prstGeom>
          <a:noFill/>
          <a:ln/>
        </p:spPr>
        <p:txBody>
          <a:bodyPr wrap="square" rtlCol="0" anchor="t"/>
          <a:lstStyle/>
          <a:p>
            <a:r>
              <a:rPr sz="1800">
                <a:solidFill>
                  <a:srgbClr val="B7B2C7"/>
                </a:solidFill>
                <a:latin typeface="Calibri"/>
              </a:rPr>
              <a:t>Adaptăm locul de muncă la om, nu invers. Asistentul cognitiv care transformă procedurile de 40 de pagini în pași simpli și acțiuni sigure.</a:t>
            </a:r>
          </a:p>
        </p:txBody>
      </p:sp>
      <p:sp>
        <p:nvSpPr>
          <p:cNvPr id="10" name="Text 5"/>
          <p:cNvSpPr/>
          <p:nvPr/>
        </p:nvSpPr>
        <p:spPr>
          <a:xfrm>
            <a:off x="566928" y="5669280"/>
            <a:ext cx="2558034" cy="457200"/>
          </a:xfrm>
          <a:prstGeom prst="rect">
            <a:avLst/>
          </a:prstGeom>
          <a:noFill/>
          <a:ln/>
        </p:spPr>
        <p:txBody>
          <a:bodyPr wrap="square" lIns="0" tIns="0" rIns="0" bIns="0" rtlCol="0" anchor="b"/>
          <a:lstStyle/>
          <a:p>
            <a:r>
              <a:rPr sz="2400" b="1">
                <a:solidFill>
                  <a:srgbClr val="A78BFA"/>
                </a:solidFill>
                <a:latin typeface="Arial"/>
              </a:rPr>
              <a:t>68%</a:t>
            </a:r>
          </a:p>
        </p:txBody>
      </p:sp>
      <p:sp>
        <p:nvSpPr>
          <p:cNvPr id="11" name="Text 6"/>
          <p:cNvSpPr/>
          <p:nvPr/>
        </p:nvSpPr>
        <p:spPr>
          <a:xfrm>
            <a:off x="566928" y="6144768"/>
            <a:ext cx="2558034" cy="274320"/>
          </a:xfrm>
          <a:prstGeom prst="rect">
            <a:avLst/>
          </a:prstGeom>
          <a:noFill/>
          <a:ln/>
        </p:spPr>
        <p:txBody>
          <a:bodyPr wrap="square" lIns="0" tIns="0" rIns="0" bIns="0" rtlCol="0" anchor="t"/>
          <a:lstStyle/>
          <a:p>
            <a:r>
              <a:rPr sz="900">
                <a:solidFill>
                  <a:srgbClr val="736E85"/>
                </a:solidFill>
                <a:latin typeface="Consolas"/>
              </a:rPr>
              <a:t>ABANDON PRIMUL JOB</a:t>
            </a:r>
          </a:p>
        </p:txBody>
      </p:sp>
      <p:sp>
        <p:nvSpPr>
          <p:cNvPr id="12" name="Text 7"/>
          <p:cNvSpPr/>
          <p:nvPr/>
        </p:nvSpPr>
        <p:spPr>
          <a:xfrm>
            <a:off x="3399282" y="5669280"/>
            <a:ext cx="2558034" cy="457200"/>
          </a:xfrm>
          <a:prstGeom prst="rect">
            <a:avLst/>
          </a:prstGeom>
          <a:noFill/>
          <a:ln/>
        </p:spPr>
        <p:txBody>
          <a:bodyPr wrap="square" lIns="0" tIns="0" rIns="0" bIns="0" rtlCol="0" anchor="b"/>
          <a:lstStyle/>
          <a:p>
            <a:r>
              <a:rPr sz="2400" b="1">
                <a:solidFill>
                  <a:srgbClr val="F5F3FB"/>
                </a:solidFill>
                <a:latin typeface="Arial"/>
              </a:rPr>
              <a:t>1 din 6</a:t>
            </a:r>
          </a:p>
        </p:txBody>
      </p:sp>
      <p:sp>
        <p:nvSpPr>
          <p:cNvPr id="13" name="Text 8"/>
          <p:cNvSpPr/>
          <p:nvPr/>
        </p:nvSpPr>
        <p:spPr>
          <a:xfrm>
            <a:off x="3399282" y="6144768"/>
            <a:ext cx="2558034" cy="274320"/>
          </a:xfrm>
          <a:prstGeom prst="rect">
            <a:avLst/>
          </a:prstGeom>
          <a:noFill/>
          <a:ln/>
        </p:spPr>
        <p:txBody>
          <a:bodyPr wrap="square" lIns="0" tIns="0" rIns="0" bIns="0" rtlCol="0" anchor="t"/>
          <a:lstStyle/>
          <a:p>
            <a:r>
              <a:rPr sz="900">
                <a:solidFill>
                  <a:srgbClr val="736E85"/>
                </a:solidFill>
                <a:latin typeface="Consolas"/>
              </a:rPr>
              <a:t>TINERI CU DIZABILITĂȚI</a:t>
            </a:r>
          </a:p>
        </p:txBody>
      </p:sp>
      <p:sp>
        <p:nvSpPr>
          <p:cNvPr id="14" name="Text 9"/>
          <p:cNvSpPr/>
          <p:nvPr/>
        </p:nvSpPr>
        <p:spPr>
          <a:xfrm>
            <a:off x="6231636" y="5669280"/>
            <a:ext cx="2558034" cy="457200"/>
          </a:xfrm>
          <a:prstGeom prst="rect">
            <a:avLst/>
          </a:prstGeom>
          <a:noFill/>
          <a:ln/>
        </p:spPr>
        <p:txBody>
          <a:bodyPr wrap="square" lIns="0" tIns="0" rIns="0" bIns="0" rtlCol="0" anchor="b"/>
          <a:lstStyle/>
          <a:p>
            <a:r>
              <a:rPr sz="2400" b="1">
                <a:solidFill>
                  <a:srgbClr val="F5F3FB"/>
                </a:solidFill>
                <a:latin typeface="Arial"/>
              </a:rPr>
              <a:t>100%</a:t>
            </a:r>
          </a:p>
        </p:txBody>
      </p:sp>
      <p:sp>
        <p:nvSpPr>
          <p:cNvPr id="15" name="Text 10"/>
          <p:cNvSpPr/>
          <p:nvPr/>
        </p:nvSpPr>
        <p:spPr>
          <a:xfrm>
            <a:off x="6231636" y="6144768"/>
            <a:ext cx="2558034" cy="274320"/>
          </a:xfrm>
          <a:prstGeom prst="rect">
            <a:avLst/>
          </a:prstGeom>
          <a:noFill/>
          <a:ln/>
        </p:spPr>
        <p:txBody>
          <a:bodyPr wrap="square" lIns="0" tIns="0" rIns="0" bIns="0" rtlCol="0" anchor="t"/>
          <a:lstStyle/>
          <a:p>
            <a:r>
              <a:rPr sz="900">
                <a:solidFill>
                  <a:srgbClr val="736E85"/>
                </a:solidFill>
                <a:latin typeface="Consolas"/>
              </a:rPr>
              <a:t>CONFIDENȚIAL ÎN BROWSER</a:t>
            </a:r>
          </a:p>
        </p:txBody>
      </p:sp>
      <p:sp>
        <p:nvSpPr>
          <p:cNvPr id="16" name="Text 11"/>
          <p:cNvSpPr/>
          <p:nvPr/>
        </p:nvSpPr>
        <p:spPr>
          <a:xfrm>
            <a:off x="9063990" y="5669280"/>
            <a:ext cx="2558034" cy="457200"/>
          </a:xfrm>
          <a:prstGeom prst="rect">
            <a:avLst/>
          </a:prstGeom>
          <a:noFill/>
          <a:ln/>
        </p:spPr>
        <p:txBody>
          <a:bodyPr wrap="square" lIns="0" tIns="0" rIns="0" bIns="0" rtlCol="0" anchor="b"/>
          <a:lstStyle/>
          <a:p>
            <a:r>
              <a:rPr sz="2400" b="1">
                <a:solidFill>
                  <a:srgbClr val="34D399"/>
                </a:solidFill>
                <a:latin typeface="Arial"/>
              </a:rPr>
              <a:t>0</a:t>
            </a:r>
          </a:p>
        </p:txBody>
      </p:sp>
      <p:sp>
        <p:nvSpPr>
          <p:cNvPr id="17" name="Text 12"/>
          <p:cNvSpPr/>
          <p:nvPr/>
        </p:nvSpPr>
        <p:spPr>
          <a:xfrm>
            <a:off x="9063990" y="6144768"/>
            <a:ext cx="2558034" cy="274320"/>
          </a:xfrm>
          <a:prstGeom prst="rect">
            <a:avLst/>
          </a:prstGeom>
          <a:noFill/>
          <a:ln/>
        </p:spPr>
        <p:txBody>
          <a:bodyPr wrap="square" lIns="0" tIns="0" rIns="0" bIns="0" rtlCol="0" anchor="t"/>
          <a:lstStyle/>
          <a:p>
            <a:r>
              <a:rPr sz="900">
                <a:solidFill>
                  <a:srgbClr val="736E85"/>
                </a:solidFill>
                <a:latin typeface="Consolas"/>
              </a:rPr>
              <a:t>DIAGNOSTICE MEDICALE CERUTE</a:t>
            </a:r>
          </a:p>
        </p:txBody>
      </p:sp>
    </p:spTree>
  </p:cSld>
  <p:clrMapOvr>
    <a:masterClrMapping/>
  </p:clrMapOvr>
  <p:transition xmlns:p15="http://schemas.microsoft.com/office/powerpoint/2012/main" spd="med">
    <p15:morph option="byObject"/>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01</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PROBLEMA REALĂ</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Prima zi de muncă e un șoc birocratic.</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Text 7"/>
          <p:cNvSpPr/>
          <p:nvPr/>
        </p:nvSpPr>
        <p:spPr>
          <a:xfrm>
            <a:off x="566928" y="2377440"/>
            <a:ext cx="5394960" cy="2926080"/>
          </a:xfrm>
          <a:prstGeom prst="rect">
            <a:avLst/>
          </a:prstGeom>
          <a:noFill/>
          <a:ln/>
        </p:spPr>
        <p:txBody>
          <a:bodyPr wrap="square" rtlCol="0" anchor="t"/>
          <a:lstStyle/>
          <a:p>
            <a:r>
              <a:rPr sz="1550">
                <a:solidFill>
                  <a:srgbClr val="B7B2C7"/>
                </a:solidFill>
                <a:latin typeface="Calibri"/>
              </a:rPr>
              <a:t>68% din tinerii cu dizabilități renunță la primul job din cauza comunicării inaccesibile și a fricii de a întreba.</a:t>
            </a:r>
          </a:p>
        </p:txBody>
      </p:sp>
      <p:sp>
        <p:nvSpPr>
          <p:cNvPr id="12" name="Shape 8"/>
          <p:cNvSpPr/>
          <p:nvPr/>
        </p:nvSpPr>
        <p:spPr>
          <a:xfrm>
            <a:off x="6126480" y="2377440"/>
            <a:ext cx="5303520" cy="2651760"/>
          </a:xfrm>
          <a:prstGeom prst="roundRect">
            <a:avLst>
              <a:gd name="adj" fmla="val 3103"/>
            </a:avLst>
          </a:prstGeom>
          <a:solidFill>
            <a:srgbClr val="1E1E2A"/>
          </a:solidFill>
          <a:ln w="9525">
            <a:solidFill>
              <a:srgbClr val="30303F"/>
            </a:solidFill>
            <a:prstDash val="solid"/>
          </a:ln>
        </p:spPr>
      </p:sp>
      <p:sp>
        <p:nvSpPr>
          <p:cNvPr id="13" name="Text 9"/>
          <p:cNvSpPr/>
          <p:nvPr/>
        </p:nvSpPr>
        <p:spPr>
          <a:xfrm>
            <a:off x="6345936" y="2542032"/>
            <a:ext cx="4864608" cy="274320"/>
          </a:xfrm>
          <a:prstGeom prst="rect">
            <a:avLst/>
          </a:prstGeom>
          <a:noFill/>
          <a:ln/>
        </p:spPr>
        <p:txBody>
          <a:bodyPr wrap="square" lIns="0" tIns="0" rIns="0" bIns="0" rtlCol="0" anchor="t"/>
          <a:lstStyle/>
          <a:p>
            <a:r>
              <a:rPr sz="1050" b="1">
                <a:solidFill>
                  <a:srgbClr val="E8534E"/>
                </a:solidFill>
                <a:latin typeface="Consolas"/>
              </a:rPr>
              <a:t>⚠  COSTUL BLOCAJULUI COGNITIV</a:t>
            </a:r>
          </a:p>
        </p:txBody>
      </p:sp>
      <p:sp>
        <p:nvSpPr>
          <p:cNvPr id="14" name="Text 10"/>
          <p:cNvSpPr/>
          <p:nvPr/>
        </p:nvSpPr>
        <p:spPr>
          <a:xfrm>
            <a:off x="6345936" y="2871216"/>
            <a:ext cx="4864608" cy="2048256"/>
          </a:xfrm>
          <a:prstGeom prst="rect">
            <a:avLst/>
          </a:prstGeom>
          <a:noFill/>
          <a:ln/>
        </p:spPr>
        <p:txBody>
          <a:bodyPr wrap="square" lIns="0" tIns="0" rIns="0" bIns="0" rtlCol="0" anchor="t"/>
          <a:lstStyle/>
          <a:p>
            <a:r>
              <a:rPr sz="1300">
                <a:solidFill>
                  <a:srgbClr val="F5F3FB"/>
                </a:solidFill>
                <a:latin typeface="Calibri"/>
              </a:rPr>
              <a:t>Ana primește 40 de pagini de proceduri pline de acronime neclare și termene vagi («cât mai repede»). Când nu înțelege, se blochează. Companiile pierd oameni buni, iar tinerii își pierd încrederea înainte să arate ce pot.</a:t>
            </a:r>
          </a:p>
        </p:txBody>
      </p:sp>
    </p:spTree>
  </p:cSld>
  <p:clrMapOvr>
    <a:masterClrMapping/>
  </p:clrMapOvr>
  <p:transition xmlns:p15="http://schemas.microsoft.com/office/powerpoint/2012/main" spd="med">
    <p15:morph option="byObject"/>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02</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CUM FUNCȚIONEAZĂ</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Selectezi → Limpede simplifică → Ai dovada</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Shape 7"/>
          <p:cNvSpPr/>
          <p:nvPr/>
        </p:nvSpPr>
        <p:spPr>
          <a:xfrm>
            <a:off x="566928" y="2331720"/>
            <a:ext cx="3502152" cy="2743200"/>
          </a:xfrm>
          <a:prstGeom prst="roundRect">
            <a:avLst>
              <a:gd name="adj" fmla="val 3000"/>
            </a:avLst>
          </a:prstGeom>
          <a:solidFill>
            <a:srgbClr val="171721"/>
          </a:solidFill>
          <a:ln w="9525">
            <a:solidFill>
              <a:srgbClr val="30303F"/>
            </a:solidFill>
            <a:prstDash val="solid"/>
          </a:ln>
        </p:spPr>
      </p:sp>
      <p:sp>
        <p:nvSpPr>
          <p:cNvPr id="12" name="Text 8"/>
          <p:cNvSpPr/>
          <p:nvPr/>
        </p:nvSpPr>
        <p:spPr>
          <a:xfrm>
            <a:off x="768096" y="2514600"/>
            <a:ext cx="914400" cy="365760"/>
          </a:xfrm>
          <a:prstGeom prst="rect">
            <a:avLst/>
          </a:prstGeom>
          <a:noFill/>
          <a:ln/>
        </p:spPr>
        <p:txBody>
          <a:bodyPr wrap="square" lIns="0" tIns="0" rIns="0" bIns="0" rtlCol="0" anchor="t"/>
          <a:lstStyle/>
          <a:p>
            <a:r>
              <a:rPr sz="1500" b="1">
                <a:solidFill>
                  <a:srgbClr val="E8534E"/>
                </a:solidFill>
                <a:latin typeface="Consolas"/>
              </a:rPr>
              <a:t>01</a:t>
            </a:r>
          </a:p>
        </p:txBody>
      </p:sp>
      <p:sp>
        <p:nvSpPr>
          <p:cNvPr id="13" name="Text 9"/>
          <p:cNvSpPr/>
          <p:nvPr/>
        </p:nvSpPr>
        <p:spPr>
          <a:xfrm>
            <a:off x="768096" y="2898648"/>
            <a:ext cx="3099816" cy="365760"/>
          </a:xfrm>
          <a:prstGeom prst="rect">
            <a:avLst/>
          </a:prstGeom>
          <a:noFill/>
          <a:ln/>
        </p:spPr>
        <p:txBody>
          <a:bodyPr wrap="square" lIns="0" tIns="0" rIns="0" bIns="0" rtlCol="0" anchor="t"/>
          <a:lstStyle/>
          <a:p>
            <a:r>
              <a:rPr sz="1600" b="1">
                <a:solidFill>
                  <a:srgbClr val="F5F3FB"/>
                </a:solidFill>
                <a:latin typeface="Arial"/>
              </a:rPr>
              <a:t>Încarci sau selectezi</a:t>
            </a:r>
          </a:p>
        </p:txBody>
      </p:sp>
      <p:sp>
        <p:nvSpPr>
          <p:cNvPr id="14" name="Text 10"/>
          <p:cNvSpPr/>
          <p:nvPr/>
        </p:nvSpPr>
        <p:spPr>
          <a:xfrm>
            <a:off x="768096" y="3319272"/>
            <a:ext cx="3099816" cy="1645920"/>
          </a:xfrm>
          <a:prstGeom prst="rect">
            <a:avLst/>
          </a:prstGeom>
          <a:noFill/>
          <a:ln/>
        </p:spPr>
        <p:txBody>
          <a:bodyPr wrap="square" lIns="0" tIns="0" rIns="0" bIns="0" rtlCol="0" anchor="t"/>
          <a:lstStyle/>
          <a:p>
            <a:r>
              <a:rPr sz="1250">
                <a:solidFill>
                  <a:srgbClr val="B7B2C7"/>
                </a:solidFill>
                <a:latin typeface="Calibri"/>
              </a:rPr>
              <a:t>PDF de onboarding, email de la manager sau text direct din Jira/Slack cu extensia de browser.</a:t>
            </a:r>
          </a:p>
        </p:txBody>
      </p:sp>
      <p:sp>
        <p:nvSpPr>
          <p:cNvPr id="15" name="Shape 11"/>
          <p:cNvSpPr/>
          <p:nvPr/>
        </p:nvSpPr>
        <p:spPr>
          <a:xfrm>
            <a:off x="4361688" y="2331720"/>
            <a:ext cx="3502152" cy="2743200"/>
          </a:xfrm>
          <a:prstGeom prst="roundRect">
            <a:avLst>
              <a:gd name="adj" fmla="val 3000"/>
            </a:avLst>
          </a:prstGeom>
          <a:solidFill>
            <a:srgbClr val="171721"/>
          </a:solidFill>
          <a:ln w="9525">
            <a:solidFill>
              <a:srgbClr val="30303F"/>
            </a:solidFill>
            <a:prstDash val="solid"/>
          </a:ln>
        </p:spPr>
      </p:sp>
      <p:sp>
        <p:nvSpPr>
          <p:cNvPr id="16" name="Text 12"/>
          <p:cNvSpPr/>
          <p:nvPr/>
        </p:nvSpPr>
        <p:spPr>
          <a:xfrm>
            <a:off x="4562856" y="2514600"/>
            <a:ext cx="914400" cy="365760"/>
          </a:xfrm>
          <a:prstGeom prst="rect">
            <a:avLst/>
          </a:prstGeom>
          <a:noFill/>
          <a:ln/>
        </p:spPr>
        <p:txBody>
          <a:bodyPr wrap="square" lIns="0" tIns="0" rIns="0" bIns="0" rtlCol="0" anchor="t"/>
          <a:lstStyle/>
          <a:p>
            <a:r>
              <a:rPr sz="1500" b="1">
                <a:solidFill>
                  <a:srgbClr val="E8534E"/>
                </a:solidFill>
                <a:latin typeface="Consolas"/>
              </a:rPr>
              <a:t>02</a:t>
            </a:r>
          </a:p>
        </p:txBody>
      </p:sp>
      <p:sp>
        <p:nvSpPr>
          <p:cNvPr id="17" name="Text 13"/>
          <p:cNvSpPr/>
          <p:nvPr/>
        </p:nvSpPr>
        <p:spPr>
          <a:xfrm>
            <a:off x="4562856" y="2898648"/>
            <a:ext cx="3099816" cy="365760"/>
          </a:xfrm>
          <a:prstGeom prst="rect">
            <a:avLst/>
          </a:prstGeom>
          <a:noFill/>
          <a:ln/>
        </p:spPr>
        <p:txBody>
          <a:bodyPr wrap="square" lIns="0" tIns="0" rIns="0" bIns="0" rtlCol="0" anchor="t"/>
          <a:lstStyle/>
          <a:p>
            <a:r>
              <a:rPr sz="1600" b="1">
                <a:solidFill>
                  <a:srgbClr val="F5F3FB"/>
                </a:solidFill>
                <a:latin typeface="Arial"/>
              </a:rPr>
              <a:t>Primești claritate</a:t>
            </a:r>
          </a:p>
        </p:txBody>
      </p:sp>
      <p:sp>
        <p:nvSpPr>
          <p:cNvPr id="18" name="Text 14"/>
          <p:cNvSpPr/>
          <p:nvPr/>
        </p:nvSpPr>
        <p:spPr>
          <a:xfrm>
            <a:off x="4562856" y="3319272"/>
            <a:ext cx="3099816" cy="1645920"/>
          </a:xfrm>
          <a:prstGeom prst="rect">
            <a:avLst/>
          </a:prstGeom>
          <a:noFill/>
          <a:ln/>
        </p:spPr>
        <p:txBody>
          <a:bodyPr wrap="square" lIns="0" tIns="0" rIns="0" bIns="0" rtlCol="0" anchor="t"/>
          <a:lstStyle/>
          <a:p>
            <a:r>
              <a:rPr sz="1250">
                <a:solidFill>
                  <a:srgbClr val="B7B2C7"/>
                </a:solidFill>
                <a:latin typeface="Calibri"/>
              </a:rPr>
              <a:t>3 pași acționabili, verbe clare la imperativ, cardul «📌 De reținut azi» și orele/datele îngroșate.</a:t>
            </a:r>
          </a:p>
        </p:txBody>
      </p:sp>
      <p:sp>
        <p:nvSpPr>
          <p:cNvPr id="19" name="Shape 15"/>
          <p:cNvSpPr/>
          <p:nvPr/>
        </p:nvSpPr>
        <p:spPr>
          <a:xfrm>
            <a:off x="8156448" y="2331720"/>
            <a:ext cx="3502152" cy="2743200"/>
          </a:xfrm>
          <a:prstGeom prst="roundRect">
            <a:avLst>
              <a:gd name="adj" fmla="val 3000"/>
            </a:avLst>
          </a:prstGeom>
          <a:solidFill>
            <a:srgbClr val="171721"/>
          </a:solidFill>
          <a:ln w="9525">
            <a:solidFill>
              <a:srgbClr val="30303F"/>
            </a:solidFill>
            <a:prstDash val="solid"/>
          </a:ln>
        </p:spPr>
      </p:sp>
      <p:sp>
        <p:nvSpPr>
          <p:cNvPr id="20" name="Text 16"/>
          <p:cNvSpPr/>
          <p:nvPr/>
        </p:nvSpPr>
        <p:spPr>
          <a:xfrm>
            <a:off x="8357616" y="2514600"/>
            <a:ext cx="914400" cy="365760"/>
          </a:xfrm>
          <a:prstGeom prst="rect">
            <a:avLst/>
          </a:prstGeom>
          <a:noFill/>
          <a:ln/>
        </p:spPr>
        <p:txBody>
          <a:bodyPr wrap="square" lIns="0" tIns="0" rIns="0" bIns="0" rtlCol="0" anchor="t"/>
          <a:lstStyle/>
          <a:p>
            <a:r>
              <a:rPr sz="1500" b="1">
                <a:solidFill>
                  <a:srgbClr val="E8534E"/>
                </a:solidFill>
                <a:latin typeface="Consolas"/>
              </a:rPr>
              <a:t>03</a:t>
            </a:r>
          </a:p>
        </p:txBody>
      </p:sp>
      <p:sp>
        <p:nvSpPr>
          <p:cNvPr id="21" name="Text 17"/>
          <p:cNvSpPr/>
          <p:nvPr/>
        </p:nvSpPr>
        <p:spPr>
          <a:xfrm>
            <a:off x="8357616" y="2898648"/>
            <a:ext cx="3099816" cy="365760"/>
          </a:xfrm>
          <a:prstGeom prst="rect">
            <a:avLst/>
          </a:prstGeom>
          <a:noFill/>
          <a:ln/>
        </p:spPr>
        <p:txBody>
          <a:bodyPr wrap="square" lIns="0" tIns="0" rIns="0" bIns="0" rtlCol="0" anchor="t"/>
          <a:lstStyle/>
          <a:p>
            <a:r>
              <a:rPr sz="1600" b="1">
                <a:solidFill>
                  <a:srgbClr val="F5F3FB"/>
                </a:solidFill>
                <a:latin typeface="Arial"/>
              </a:rPr>
              <a:t>Dovadă &amp; Calendar</a:t>
            </a:r>
          </a:p>
        </p:txBody>
      </p:sp>
      <p:sp>
        <p:nvSpPr>
          <p:cNvPr id="22" name="Text 18"/>
          <p:cNvSpPr/>
          <p:nvPr/>
        </p:nvSpPr>
        <p:spPr>
          <a:xfrm>
            <a:off x="8357616" y="3319272"/>
            <a:ext cx="3099816" cy="1645920"/>
          </a:xfrm>
          <a:prstGeom prst="rect">
            <a:avLst/>
          </a:prstGeom>
          <a:noFill/>
          <a:ln/>
        </p:spPr>
        <p:txBody>
          <a:bodyPr wrap="square" lIns="0" tIns="0" rIns="0" bIns="0" rtlCol="0" anchor="t"/>
          <a:lstStyle/>
          <a:p>
            <a:r>
              <a:rPr sz="1250">
                <a:solidFill>
                  <a:srgbClr val="B7B2C7"/>
                </a:solidFill>
                <a:latin typeface="Calibri"/>
              </a:rPr>
              <a:t>Apeși «Arată în text» să vezi sursa exactă. La termene vagi, primești [De confirmat] și export direct în calendar.</a:t>
            </a:r>
          </a:p>
        </p:txBody>
      </p:sp>
    </p:spTree>
  </p:cSld>
  <p:clrMapOvr>
    <a:masterClrMapping/>
  </p:clrMapOvr>
  <p:transition xmlns:p15="http://schemas.microsoft.com/office/powerpoint/2012/main" spd="med">
    <p15:morph option="byObject"/>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03</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CE AVEM ÎN PLUS</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Trei lucruri pe care nimeni altcineva nu le face.</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Shape 7"/>
          <p:cNvSpPr/>
          <p:nvPr/>
        </p:nvSpPr>
        <p:spPr>
          <a:xfrm>
            <a:off x="566928" y="2286000"/>
            <a:ext cx="6766560" cy="3566160"/>
          </a:xfrm>
          <a:prstGeom prst="roundRect">
            <a:avLst>
              <a:gd name="adj" fmla="val 2308"/>
            </a:avLst>
          </a:prstGeom>
          <a:solidFill>
            <a:srgbClr val="171721"/>
          </a:solidFill>
          <a:ln w="9525">
            <a:solidFill>
              <a:srgbClr val="30303F"/>
            </a:solidFill>
            <a:prstDash val="solid"/>
          </a:ln>
        </p:spPr>
      </p:sp>
      <p:sp>
        <p:nvSpPr>
          <p:cNvPr id="12" name="Text 8"/>
          <p:cNvSpPr/>
          <p:nvPr/>
        </p:nvSpPr>
        <p:spPr>
          <a:xfrm>
            <a:off x="795528" y="2395728"/>
            <a:ext cx="4572000" cy="274320"/>
          </a:xfrm>
          <a:prstGeom prst="rect">
            <a:avLst/>
          </a:prstGeom>
          <a:noFill/>
          <a:ln/>
        </p:spPr>
        <p:txBody>
          <a:bodyPr wrap="square" rtlCol="0" anchor="ctr"/>
          <a:lstStyle/>
          <a:p>
            <a:r>
              <a:rPr sz="1000">
                <a:solidFill>
                  <a:srgbClr val="B7B2C7"/>
                </a:solidFill>
                <a:latin typeface="Consolas"/>
              </a:rPr>
              <a:t>Inovații concrete de care suntem cel mai mândri:</a:t>
            </a:r>
          </a:p>
        </p:txBody>
      </p:sp>
      <p:graphicFrame>
        <p:nvGraphicFramePr>
          <p:cNvPr id="13" name="Chart 0" descr=""/>
          <p:cNvGraphicFramePr/>
          <p:nvPr/>
        </p:nvGraphicFramePr>
        <p:xfrm>
          <a:off x="749808" y="2697480"/>
          <a:ext cx="6400800" cy="3017520"/>
        </p:xfrm>
        <a:graphic xmlns:a="http://schemas.openxmlformats.org/drawingml/2006/main">
          <a:graphicData uri="http://schemas.openxmlformats.org/drawingml/2006/chart">
            <c:chart xmlns:c="http://schemas.openxmlformats.org/drawingml/2006/chart" r:id="rId3"/>
          </a:graphicData>
        </a:graphic>
      </p:graphicFrame>
      <p:sp>
        <p:nvSpPr>
          <p:cNvPr id="14" name="Shape 9"/>
          <p:cNvSpPr/>
          <p:nvPr/>
        </p:nvSpPr>
        <p:spPr>
          <a:xfrm>
            <a:off x="7589520" y="2286000"/>
            <a:ext cx="3502152" cy="1143000"/>
          </a:xfrm>
          <a:prstGeom prst="roundRect">
            <a:avLst>
              <a:gd name="adj" fmla="val 7200"/>
            </a:avLst>
          </a:prstGeom>
          <a:solidFill>
            <a:srgbClr val="171721"/>
          </a:solidFill>
          <a:ln w="9525">
            <a:solidFill>
              <a:srgbClr val="30303F"/>
            </a:solidFill>
            <a:prstDash val="solid"/>
          </a:ln>
        </p:spPr>
      </p:sp>
      <p:sp>
        <p:nvSpPr>
          <p:cNvPr id="15" name="Text 10"/>
          <p:cNvSpPr/>
          <p:nvPr/>
        </p:nvSpPr>
        <p:spPr>
          <a:xfrm>
            <a:off x="7790688" y="2432304"/>
            <a:ext cx="3136392" cy="571500"/>
          </a:xfrm>
          <a:prstGeom prst="rect">
            <a:avLst/>
          </a:prstGeom>
          <a:noFill/>
          <a:ln/>
        </p:spPr>
        <p:txBody>
          <a:bodyPr wrap="square" lIns="0" tIns="0" rIns="0" bIns="0" rtlCol="0" anchor="t"/>
          <a:lstStyle/>
          <a:p>
            <a:r>
              <a:rPr sz="3000" b="1">
                <a:solidFill>
                  <a:srgbClr val="A78BFA"/>
                </a:solidFill>
                <a:latin typeface="Arial"/>
              </a:rPr>
              <a:t>0 Halucinații</a:t>
            </a:r>
          </a:p>
        </p:txBody>
      </p:sp>
      <p:sp>
        <p:nvSpPr>
          <p:cNvPr id="16" name="Text 11"/>
          <p:cNvSpPr/>
          <p:nvPr/>
        </p:nvSpPr>
        <p:spPr>
          <a:xfrm>
            <a:off x="7790688" y="2971800"/>
            <a:ext cx="3136392" cy="274320"/>
          </a:xfrm>
          <a:prstGeom prst="rect">
            <a:avLst/>
          </a:prstGeom>
          <a:noFill/>
          <a:ln/>
        </p:spPr>
        <p:txBody>
          <a:bodyPr wrap="square" lIns="0" tIns="0" rIns="0" bIns="0" rtlCol="0" anchor="t"/>
          <a:lstStyle/>
          <a:p>
            <a:r>
              <a:rPr sz="900">
                <a:solidFill>
                  <a:srgbClr val="736E85"/>
                </a:solidFill>
                <a:latin typeface="Consolas"/>
              </a:rPr>
              <a:t>«ARATĂ ÎN TEXT»</a:t>
            </a:r>
          </a:p>
        </p:txBody>
      </p:sp>
      <p:sp>
        <p:nvSpPr>
          <p:cNvPr id="17" name="Shape 12"/>
          <p:cNvSpPr/>
          <p:nvPr/>
        </p:nvSpPr>
        <p:spPr>
          <a:xfrm>
            <a:off x="7589520" y="3538728"/>
            <a:ext cx="3502152" cy="1143000"/>
          </a:xfrm>
          <a:prstGeom prst="roundRect">
            <a:avLst>
              <a:gd name="adj" fmla="val 7200"/>
            </a:avLst>
          </a:prstGeom>
          <a:solidFill>
            <a:srgbClr val="171721"/>
          </a:solidFill>
          <a:ln w="9525">
            <a:solidFill>
              <a:srgbClr val="30303F"/>
            </a:solidFill>
            <a:prstDash val="solid"/>
          </a:ln>
        </p:spPr>
      </p:sp>
      <p:sp>
        <p:nvSpPr>
          <p:cNvPr id="18" name="Text 13"/>
          <p:cNvSpPr/>
          <p:nvPr/>
        </p:nvSpPr>
        <p:spPr>
          <a:xfrm>
            <a:off x="7790688" y="3685032"/>
            <a:ext cx="3136392" cy="571500"/>
          </a:xfrm>
          <a:prstGeom prst="rect">
            <a:avLst/>
          </a:prstGeom>
          <a:noFill/>
          <a:ln/>
        </p:spPr>
        <p:txBody>
          <a:bodyPr wrap="square" lIns="0" tIns="0" rIns="0" bIns="0" rtlCol="0" anchor="t"/>
          <a:lstStyle/>
          <a:p>
            <a:r>
              <a:rPr sz="3000" b="1">
                <a:solidFill>
                  <a:srgbClr val="34D399"/>
                </a:solidFill>
                <a:latin typeface="Arial"/>
              </a:rPr>
              <a:t>[De confirmat]</a:t>
            </a:r>
          </a:p>
        </p:txBody>
      </p:sp>
      <p:sp>
        <p:nvSpPr>
          <p:cNvPr id="19" name="Text 14"/>
          <p:cNvSpPr/>
          <p:nvPr/>
        </p:nvSpPr>
        <p:spPr>
          <a:xfrm>
            <a:off x="7790688" y="4224528"/>
            <a:ext cx="3136392" cy="274320"/>
          </a:xfrm>
          <a:prstGeom prst="rect">
            <a:avLst/>
          </a:prstGeom>
          <a:noFill/>
          <a:ln/>
        </p:spPr>
        <p:txBody>
          <a:bodyPr wrap="square" lIns="0" tIns="0" rIns="0" bIns="0" rtlCol="0" anchor="t"/>
          <a:lstStyle/>
          <a:p>
            <a:r>
              <a:rPr sz="900">
                <a:solidFill>
                  <a:srgbClr val="736E85"/>
                </a:solidFill>
                <a:latin typeface="Consolas"/>
              </a:rPr>
              <a:t>PROTECȚIE LA TERMENE</a:t>
            </a:r>
          </a:p>
        </p:txBody>
      </p:sp>
      <p:sp>
        <p:nvSpPr>
          <p:cNvPr id="20" name="Shape 15"/>
          <p:cNvSpPr/>
          <p:nvPr/>
        </p:nvSpPr>
        <p:spPr>
          <a:xfrm>
            <a:off x="7589520" y="4791456"/>
            <a:ext cx="3502152" cy="1060704"/>
          </a:xfrm>
          <a:prstGeom prst="roundRect">
            <a:avLst>
              <a:gd name="adj" fmla="val 7759"/>
            </a:avLst>
          </a:prstGeom>
          <a:solidFill>
            <a:srgbClr val="171721"/>
          </a:solidFill>
          <a:ln w="9525">
            <a:solidFill>
              <a:srgbClr val="30303F"/>
            </a:solidFill>
            <a:prstDash val="solid"/>
          </a:ln>
        </p:spPr>
      </p:sp>
      <p:sp>
        <p:nvSpPr>
          <p:cNvPr id="21" name="Text 16"/>
          <p:cNvSpPr/>
          <p:nvPr/>
        </p:nvSpPr>
        <p:spPr>
          <a:xfrm>
            <a:off x="7790688" y="4937760"/>
            <a:ext cx="3136392" cy="530352"/>
          </a:xfrm>
          <a:prstGeom prst="rect">
            <a:avLst/>
          </a:prstGeom>
          <a:noFill/>
          <a:ln/>
        </p:spPr>
        <p:txBody>
          <a:bodyPr wrap="square" lIns="0" tIns="0" rIns="0" bIns="0" rtlCol="0" anchor="t"/>
          <a:lstStyle/>
          <a:p>
            <a:r>
              <a:rPr sz="3000" b="1">
                <a:solidFill>
                  <a:srgbClr val="F5F3FB"/>
                </a:solidFill>
                <a:latin typeface="Arial"/>
              </a:rPr>
              <a:t>Zero Diagnostic</a:t>
            </a:r>
          </a:p>
        </p:txBody>
      </p:sp>
      <p:sp>
        <p:nvSpPr>
          <p:cNvPr id="22" name="Text 17"/>
          <p:cNvSpPr/>
          <p:nvPr/>
        </p:nvSpPr>
        <p:spPr>
          <a:xfrm>
            <a:off x="7790688" y="5394960"/>
            <a:ext cx="3136392" cy="274320"/>
          </a:xfrm>
          <a:prstGeom prst="rect">
            <a:avLst/>
          </a:prstGeom>
          <a:noFill/>
          <a:ln/>
        </p:spPr>
        <p:txBody>
          <a:bodyPr wrap="square" lIns="0" tIns="0" rIns="0" bIns="0" rtlCol="0" anchor="t"/>
          <a:lstStyle/>
          <a:p>
            <a:r>
              <a:rPr sz="900">
                <a:solidFill>
                  <a:srgbClr val="736E85"/>
                </a:solidFill>
                <a:latin typeface="Consolas"/>
              </a:rPr>
              <a:t>FĂRĂ DOSAR MEDICAL</a:t>
            </a:r>
          </a:p>
        </p:txBody>
      </p:sp>
    </p:spTree>
  </p:cSld>
  <p:clrMapOvr>
    <a:masterClrMapping/>
  </p:clrMapOvr>
  <p:transition xmlns:p15="http://schemas.microsoft.com/office/powerpoint/2012/main" spd="med">
    <p15:morph option="byObject"/>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04</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PENTRU TOATĂ LUMEA</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Ceva concret pentru fiecare tip de nevoie.</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Shape 7"/>
          <p:cNvSpPr/>
          <p:nvPr/>
        </p:nvSpPr>
        <p:spPr>
          <a:xfrm>
            <a:off x="566928" y="2468880"/>
            <a:ext cx="3502152" cy="2011680"/>
          </a:xfrm>
          <a:prstGeom prst="roundRect">
            <a:avLst>
              <a:gd name="adj" fmla="val 4091"/>
            </a:avLst>
          </a:prstGeom>
          <a:solidFill>
            <a:srgbClr val="171721"/>
          </a:solidFill>
          <a:ln w="9525">
            <a:solidFill>
              <a:srgbClr val="30303F"/>
            </a:solidFill>
            <a:prstDash val="solid"/>
          </a:ln>
        </p:spPr>
      </p:sp>
      <p:sp>
        <p:nvSpPr>
          <p:cNvPr id="12" name="Text 8"/>
          <p:cNvSpPr/>
          <p:nvPr/>
        </p:nvSpPr>
        <p:spPr>
          <a:xfrm>
            <a:off x="768096" y="2615184"/>
            <a:ext cx="3136392" cy="1005840"/>
          </a:xfrm>
          <a:prstGeom prst="rect">
            <a:avLst/>
          </a:prstGeom>
          <a:noFill/>
          <a:ln/>
        </p:spPr>
        <p:txBody>
          <a:bodyPr wrap="square" lIns="0" tIns="0" rIns="0" bIns="0" rtlCol="0" anchor="t"/>
          <a:lstStyle/>
          <a:p>
            <a:r>
              <a:rPr sz="3000" b="1">
                <a:solidFill>
                  <a:srgbClr val="A78BFA"/>
                </a:solidFill>
                <a:latin typeface="Arial"/>
              </a:rPr>
              <a:t>ADHD &amp; Memorie</a:t>
            </a:r>
          </a:p>
        </p:txBody>
      </p:sp>
      <p:sp>
        <p:nvSpPr>
          <p:cNvPr id="13" name="Text 9"/>
          <p:cNvSpPr/>
          <p:nvPr/>
        </p:nvSpPr>
        <p:spPr>
          <a:xfrm>
            <a:off x="768096" y="3822192"/>
            <a:ext cx="3136392" cy="274320"/>
          </a:xfrm>
          <a:prstGeom prst="rect">
            <a:avLst/>
          </a:prstGeom>
          <a:noFill/>
          <a:ln/>
        </p:spPr>
        <p:txBody>
          <a:bodyPr wrap="square" lIns="0" tIns="0" rIns="0" bIns="0" rtlCol="0" anchor="t"/>
          <a:lstStyle/>
          <a:p>
            <a:r>
              <a:rPr sz="900">
                <a:solidFill>
                  <a:srgbClr val="736E85"/>
                </a:solidFill>
                <a:latin typeface="Consolas"/>
              </a:rPr>
              <a:t>CARD «DE REȚINUT»</a:t>
            </a:r>
          </a:p>
        </p:txBody>
      </p:sp>
      <p:sp>
        <p:nvSpPr>
          <p:cNvPr id="14" name="Text 10"/>
          <p:cNvSpPr/>
          <p:nvPr/>
        </p:nvSpPr>
        <p:spPr>
          <a:xfrm>
            <a:off x="768096" y="4078224"/>
            <a:ext cx="3136392" cy="292608"/>
          </a:xfrm>
          <a:prstGeom prst="rect">
            <a:avLst/>
          </a:prstGeom>
          <a:noFill/>
          <a:ln/>
        </p:spPr>
        <p:txBody>
          <a:bodyPr wrap="square" lIns="0" tIns="0" rIns="0" bIns="0" rtlCol="0" anchor="t"/>
          <a:lstStyle/>
          <a:p>
            <a:r>
              <a:rPr sz="1050">
                <a:solidFill>
                  <a:srgbClr val="B7B2C7"/>
                </a:solidFill>
                <a:latin typeface="Calibri"/>
              </a:rPr>
              <a:t>Fără politețuri sterile; maximum 3-4 pași imperativi sub 10 cuvinte.</a:t>
            </a:r>
          </a:p>
        </p:txBody>
      </p:sp>
      <p:sp>
        <p:nvSpPr>
          <p:cNvPr id="15" name="Shape 11"/>
          <p:cNvSpPr/>
          <p:nvPr/>
        </p:nvSpPr>
        <p:spPr>
          <a:xfrm>
            <a:off x="4361688" y="2468880"/>
            <a:ext cx="3502152" cy="2011680"/>
          </a:xfrm>
          <a:prstGeom prst="roundRect">
            <a:avLst>
              <a:gd name="adj" fmla="val 4091"/>
            </a:avLst>
          </a:prstGeom>
          <a:solidFill>
            <a:srgbClr val="171721"/>
          </a:solidFill>
          <a:ln w="9525">
            <a:solidFill>
              <a:srgbClr val="30303F"/>
            </a:solidFill>
            <a:prstDash val="solid"/>
          </a:ln>
        </p:spPr>
      </p:sp>
      <p:sp>
        <p:nvSpPr>
          <p:cNvPr id="16" name="Text 12"/>
          <p:cNvSpPr/>
          <p:nvPr/>
        </p:nvSpPr>
        <p:spPr>
          <a:xfrm>
            <a:off x="4562856" y="2615184"/>
            <a:ext cx="3136392" cy="1005840"/>
          </a:xfrm>
          <a:prstGeom prst="rect">
            <a:avLst/>
          </a:prstGeom>
          <a:noFill/>
          <a:ln/>
        </p:spPr>
        <p:txBody>
          <a:bodyPr wrap="square" lIns="0" tIns="0" rIns="0" bIns="0" rtlCol="0" anchor="t"/>
          <a:lstStyle/>
          <a:p>
            <a:r>
              <a:rPr sz="3000" b="1">
                <a:solidFill>
                  <a:srgbClr val="F5F3FB"/>
                </a:solidFill>
                <a:latin typeface="Arial"/>
              </a:rPr>
              <a:t>Vedere &amp; Dislexie</a:t>
            </a:r>
          </a:p>
        </p:txBody>
      </p:sp>
      <p:sp>
        <p:nvSpPr>
          <p:cNvPr id="17" name="Text 13"/>
          <p:cNvSpPr/>
          <p:nvPr/>
        </p:nvSpPr>
        <p:spPr>
          <a:xfrm>
            <a:off x="4562856" y="3822192"/>
            <a:ext cx="3136392" cy="274320"/>
          </a:xfrm>
          <a:prstGeom prst="rect">
            <a:avLst/>
          </a:prstGeom>
          <a:noFill/>
          <a:ln/>
        </p:spPr>
        <p:txBody>
          <a:bodyPr wrap="square" lIns="0" tIns="0" rIns="0" bIns="0" rtlCol="0" anchor="t"/>
          <a:lstStyle/>
          <a:p>
            <a:r>
              <a:rPr sz="900">
                <a:solidFill>
                  <a:srgbClr val="736E85"/>
                </a:solidFill>
                <a:latin typeface="Consolas"/>
              </a:rPr>
              <a:t>CONTRAST 19.5:1 AAA</a:t>
            </a:r>
          </a:p>
        </p:txBody>
      </p:sp>
      <p:sp>
        <p:nvSpPr>
          <p:cNvPr id="18" name="Text 14"/>
          <p:cNvSpPr/>
          <p:nvPr/>
        </p:nvSpPr>
        <p:spPr>
          <a:xfrm>
            <a:off x="4562856" y="4078224"/>
            <a:ext cx="3136392" cy="292608"/>
          </a:xfrm>
          <a:prstGeom prst="rect">
            <a:avLst/>
          </a:prstGeom>
          <a:noFill/>
          <a:ln/>
        </p:spPr>
        <p:txBody>
          <a:bodyPr wrap="square" lIns="0" tIns="0" rIns="0" bIns="0" rtlCol="0" anchor="t"/>
          <a:lstStyle/>
          <a:p>
            <a:r>
              <a:rPr sz="1050">
                <a:solidFill>
                  <a:srgbClr val="B7B2C7"/>
                </a:solidFill>
                <a:latin typeface="Calibri"/>
              </a:rPr>
              <a:t>Fonturi licențiate OpenDyslexic și Atkinson cu diacritice românești complete.</a:t>
            </a:r>
          </a:p>
        </p:txBody>
      </p:sp>
      <p:sp>
        <p:nvSpPr>
          <p:cNvPr id="19" name="Shape 15"/>
          <p:cNvSpPr/>
          <p:nvPr/>
        </p:nvSpPr>
        <p:spPr>
          <a:xfrm>
            <a:off x="8156448" y="2468880"/>
            <a:ext cx="3502152" cy="2011680"/>
          </a:xfrm>
          <a:prstGeom prst="roundRect">
            <a:avLst>
              <a:gd name="adj" fmla="val 4091"/>
            </a:avLst>
          </a:prstGeom>
          <a:solidFill>
            <a:srgbClr val="171721"/>
          </a:solidFill>
          <a:ln w="9525">
            <a:solidFill>
              <a:srgbClr val="30303F"/>
            </a:solidFill>
            <a:prstDash val="solid"/>
          </a:ln>
        </p:spPr>
      </p:sp>
      <p:sp>
        <p:nvSpPr>
          <p:cNvPr id="20" name="Text 16"/>
          <p:cNvSpPr/>
          <p:nvPr/>
        </p:nvSpPr>
        <p:spPr>
          <a:xfrm>
            <a:off x="8357616" y="2615184"/>
            <a:ext cx="3136392" cy="1005840"/>
          </a:xfrm>
          <a:prstGeom prst="rect">
            <a:avLst/>
          </a:prstGeom>
          <a:noFill/>
          <a:ln/>
        </p:spPr>
        <p:txBody>
          <a:bodyPr wrap="square" lIns="0" tIns="0" rIns="0" bIns="0" rtlCol="0" anchor="t"/>
          <a:lstStyle/>
          <a:p>
            <a:r>
              <a:rPr sz="3000" b="1">
                <a:solidFill>
                  <a:srgbClr val="34D399"/>
                </a:solidFill>
                <a:latin typeface="Arial"/>
              </a:rPr>
              <a:t>Auz &amp; Mobilitate</a:t>
            </a:r>
          </a:p>
        </p:txBody>
      </p:sp>
      <p:sp>
        <p:nvSpPr>
          <p:cNvPr id="21" name="Text 17"/>
          <p:cNvSpPr/>
          <p:nvPr/>
        </p:nvSpPr>
        <p:spPr>
          <a:xfrm>
            <a:off x="8357616" y="3822192"/>
            <a:ext cx="3136392" cy="274320"/>
          </a:xfrm>
          <a:prstGeom prst="rect">
            <a:avLst/>
          </a:prstGeom>
          <a:noFill/>
          <a:ln/>
        </p:spPr>
        <p:txBody>
          <a:bodyPr wrap="square" lIns="0" tIns="0" rIns="0" bIns="0" rtlCol="0" anchor="t"/>
          <a:lstStyle/>
          <a:p>
            <a:r>
              <a:rPr sz="900">
                <a:solidFill>
                  <a:srgbClr val="736E85"/>
                </a:solidFill>
                <a:latin typeface="Consolas"/>
              </a:rPr>
              <a:t>AUDIO &amp; 100% TASTATURĂ</a:t>
            </a:r>
          </a:p>
        </p:txBody>
      </p:sp>
      <p:sp>
        <p:nvSpPr>
          <p:cNvPr id="22" name="Text 18"/>
          <p:cNvSpPr/>
          <p:nvPr/>
        </p:nvSpPr>
        <p:spPr>
          <a:xfrm>
            <a:off x="8357616" y="4078224"/>
            <a:ext cx="3136392" cy="292608"/>
          </a:xfrm>
          <a:prstGeom prst="rect">
            <a:avLst/>
          </a:prstGeom>
          <a:noFill/>
          <a:ln/>
        </p:spPr>
        <p:txBody>
          <a:bodyPr wrap="square" lIns="0" tIns="0" rIns="0" bIns="0" rtlCol="0" anchor="t"/>
          <a:lstStyle/>
          <a:p>
            <a:r>
              <a:rPr sz="1050">
                <a:solidFill>
                  <a:srgbClr val="B7B2C7"/>
                </a:solidFill>
                <a:latin typeface="Calibri"/>
              </a:rPr>
              <a:t>Ședințe audio transformate în decizii scrise cu responsabili; comenzi fără mouse.</a:t>
            </a:r>
          </a:p>
        </p:txBody>
      </p:sp>
      <p:sp>
        <p:nvSpPr>
          <p:cNvPr id="23" name="Text 19"/>
          <p:cNvSpPr/>
          <p:nvPr/>
        </p:nvSpPr>
        <p:spPr>
          <a:xfrm>
            <a:off x="566928" y="4800600"/>
            <a:ext cx="11055096" cy="640080"/>
          </a:xfrm>
          <a:prstGeom prst="rect">
            <a:avLst/>
          </a:prstGeom>
          <a:noFill/>
          <a:ln/>
        </p:spPr>
        <p:txBody>
          <a:bodyPr wrap="square" rtlCol="0" anchor="t"/>
          <a:lstStyle/>
          <a:p>
            <a:r>
              <a:rPr sz="1350">
                <a:solidFill>
                  <a:srgbClr val="B7B2C7"/>
                </a:solidFill>
                <a:latin typeface="Calibri"/>
              </a:rPr>
              <a:t>Autism &amp; comunicare literală: decodificăm cererile corporatiste ocolite («ar fi frumos dacă...») și marcăm glumele ca (posibilă glumă — nesigur).</a:t>
            </a:r>
          </a:p>
        </p:txBody>
      </p:sp>
    </p:spTree>
  </p:cSld>
  <p:clrMapOvr>
    <a:masterClrMapping/>
  </p:clrMapOvr>
  <p:transition xmlns:p15="http://schemas.microsoft.com/office/powerpoint/2012/main" spd="med">
    <p15:morph option="byObject"/>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05</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ECOSISTEMUL</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Funcționează oriunde muncește omul.</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Shape 7"/>
          <p:cNvSpPr/>
          <p:nvPr/>
        </p:nvSpPr>
        <p:spPr>
          <a:xfrm>
            <a:off x="566928" y="2331720"/>
            <a:ext cx="3502152" cy="2743200"/>
          </a:xfrm>
          <a:prstGeom prst="roundRect">
            <a:avLst>
              <a:gd name="adj" fmla="val 3000"/>
            </a:avLst>
          </a:prstGeom>
          <a:solidFill>
            <a:srgbClr val="171721"/>
          </a:solidFill>
          <a:ln w="9525">
            <a:solidFill>
              <a:srgbClr val="30303F"/>
            </a:solidFill>
            <a:prstDash val="solid"/>
          </a:ln>
        </p:spPr>
      </p:sp>
      <p:sp>
        <p:nvSpPr>
          <p:cNvPr id="12" name="Text 8"/>
          <p:cNvSpPr/>
          <p:nvPr/>
        </p:nvSpPr>
        <p:spPr>
          <a:xfrm>
            <a:off x="768096" y="2514600"/>
            <a:ext cx="914400" cy="365760"/>
          </a:xfrm>
          <a:prstGeom prst="rect">
            <a:avLst/>
          </a:prstGeom>
          <a:noFill/>
          <a:ln/>
        </p:spPr>
        <p:txBody>
          <a:bodyPr wrap="square" lIns="0" tIns="0" rIns="0" bIns="0" rtlCol="0" anchor="t"/>
          <a:lstStyle/>
          <a:p>
            <a:r>
              <a:rPr sz="1500" b="1">
                <a:solidFill>
                  <a:srgbClr val="E8534E"/>
                </a:solidFill>
                <a:latin typeface="Consolas"/>
              </a:rPr>
              <a:t>01</a:t>
            </a:r>
          </a:p>
        </p:txBody>
      </p:sp>
      <p:sp>
        <p:nvSpPr>
          <p:cNvPr id="13" name="Text 9"/>
          <p:cNvSpPr/>
          <p:nvPr/>
        </p:nvSpPr>
        <p:spPr>
          <a:xfrm>
            <a:off x="768096" y="2898648"/>
            <a:ext cx="3099816" cy="365760"/>
          </a:xfrm>
          <a:prstGeom prst="rect">
            <a:avLst/>
          </a:prstGeom>
          <a:noFill/>
          <a:ln/>
        </p:spPr>
        <p:txBody>
          <a:bodyPr wrap="square" lIns="0" tIns="0" rIns="0" bIns="0" rtlCol="0" anchor="t"/>
          <a:lstStyle/>
          <a:p>
            <a:r>
              <a:rPr sz="1600" b="1">
                <a:solidFill>
                  <a:srgbClr val="F5F3FB"/>
                </a:solidFill>
                <a:latin typeface="Arial"/>
              </a:rPr>
              <a:t>Asistentul Web (Angajat)</a:t>
            </a:r>
          </a:p>
        </p:txBody>
      </p:sp>
      <p:sp>
        <p:nvSpPr>
          <p:cNvPr id="14" name="Text 10"/>
          <p:cNvSpPr/>
          <p:nvPr/>
        </p:nvSpPr>
        <p:spPr>
          <a:xfrm>
            <a:off x="768096" y="3319272"/>
            <a:ext cx="3099816" cy="1645920"/>
          </a:xfrm>
          <a:prstGeom prst="rect">
            <a:avLst/>
          </a:prstGeom>
          <a:noFill/>
          <a:ln/>
        </p:spPr>
        <p:txBody>
          <a:bodyPr wrap="square" lIns="0" tIns="0" rIns="0" bIns="0" rtlCol="0" anchor="t"/>
          <a:lstStyle/>
          <a:p>
            <a:r>
              <a:rPr sz="1250">
                <a:solidFill>
                  <a:srgbClr val="B7B2C7"/>
                </a:solidFill>
                <a:latin typeface="Calibri"/>
              </a:rPr>
              <a:t>Clarifică proceduri stufoase, extrage termene în calendar și redactează cereri legale de adaptare a biroului.</a:t>
            </a:r>
          </a:p>
        </p:txBody>
      </p:sp>
      <p:sp>
        <p:nvSpPr>
          <p:cNvPr id="15" name="Shape 11"/>
          <p:cNvSpPr/>
          <p:nvPr/>
        </p:nvSpPr>
        <p:spPr>
          <a:xfrm>
            <a:off x="4361688" y="2331720"/>
            <a:ext cx="3502152" cy="2743200"/>
          </a:xfrm>
          <a:prstGeom prst="roundRect">
            <a:avLst>
              <a:gd name="adj" fmla="val 3000"/>
            </a:avLst>
          </a:prstGeom>
          <a:solidFill>
            <a:srgbClr val="171721"/>
          </a:solidFill>
          <a:ln w="9525">
            <a:solidFill>
              <a:srgbClr val="30303F"/>
            </a:solidFill>
            <a:prstDash val="solid"/>
          </a:ln>
        </p:spPr>
      </p:sp>
      <p:sp>
        <p:nvSpPr>
          <p:cNvPr id="16" name="Text 12"/>
          <p:cNvSpPr/>
          <p:nvPr/>
        </p:nvSpPr>
        <p:spPr>
          <a:xfrm>
            <a:off x="4562856" y="2514600"/>
            <a:ext cx="914400" cy="365760"/>
          </a:xfrm>
          <a:prstGeom prst="rect">
            <a:avLst/>
          </a:prstGeom>
          <a:noFill/>
          <a:ln/>
        </p:spPr>
        <p:txBody>
          <a:bodyPr wrap="square" lIns="0" tIns="0" rIns="0" bIns="0" rtlCol="0" anchor="t"/>
          <a:lstStyle/>
          <a:p>
            <a:r>
              <a:rPr sz="1500" b="1">
                <a:solidFill>
                  <a:srgbClr val="E8534E"/>
                </a:solidFill>
                <a:latin typeface="Consolas"/>
              </a:rPr>
              <a:t>02</a:t>
            </a:r>
          </a:p>
        </p:txBody>
      </p:sp>
      <p:sp>
        <p:nvSpPr>
          <p:cNvPr id="17" name="Text 13"/>
          <p:cNvSpPr/>
          <p:nvPr/>
        </p:nvSpPr>
        <p:spPr>
          <a:xfrm>
            <a:off x="4562856" y="2898648"/>
            <a:ext cx="3099816" cy="365760"/>
          </a:xfrm>
          <a:prstGeom prst="rect">
            <a:avLst/>
          </a:prstGeom>
          <a:noFill/>
          <a:ln/>
        </p:spPr>
        <p:txBody>
          <a:bodyPr wrap="square" lIns="0" tIns="0" rIns="0" bIns="0" rtlCol="0" anchor="t"/>
          <a:lstStyle/>
          <a:p>
            <a:r>
              <a:rPr sz="1600" b="1">
                <a:solidFill>
                  <a:srgbClr val="F5F3FB"/>
                </a:solidFill>
                <a:latin typeface="Arial"/>
              </a:rPr>
              <a:t>Extensia de Browser</a:t>
            </a:r>
          </a:p>
        </p:txBody>
      </p:sp>
      <p:sp>
        <p:nvSpPr>
          <p:cNvPr id="18" name="Text 14"/>
          <p:cNvSpPr/>
          <p:nvPr/>
        </p:nvSpPr>
        <p:spPr>
          <a:xfrm>
            <a:off x="4562856" y="3319272"/>
            <a:ext cx="3099816" cy="1645920"/>
          </a:xfrm>
          <a:prstGeom prst="rect">
            <a:avLst/>
          </a:prstGeom>
          <a:noFill/>
          <a:ln/>
        </p:spPr>
        <p:txBody>
          <a:bodyPr wrap="square" lIns="0" tIns="0" rIns="0" bIns="0" rtlCol="0" anchor="t"/>
          <a:lstStyle/>
          <a:p>
            <a:r>
              <a:rPr sz="1250">
                <a:solidFill>
                  <a:srgbClr val="B7B2C7"/>
                </a:solidFill>
                <a:latin typeface="Calibri"/>
              </a:rPr>
              <a:t>Trăiește direct peste Confluence, Jira, Gmail și Slack. Card Shadow DOM complet izolat de stilurile paginii.</a:t>
            </a:r>
          </a:p>
        </p:txBody>
      </p:sp>
      <p:sp>
        <p:nvSpPr>
          <p:cNvPr id="19" name="Shape 15"/>
          <p:cNvSpPr/>
          <p:nvPr/>
        </p:nvSpPr>
        <p:spPr>
          <a:xfrm>
            <a:off x="8156448" y="2331720"/>
            <a:ext cx="3502152" cy="2743200"/>
          </a:xfrm>
          <a:prstGeom prst="roundRect">
            <a:avLst>
              <a:gd name="adj" fmla="val 3000"/>
            </a:avLst>
          </a:prstGeom>
          <a:solidFill>
            <a:srgbClr val="171721"/>
          </a:solidFill>
          <a:ln w="9525">
            <a:solidFill>
              <a:srgbClr val="30303F"/>
            </a:solidFill>
            <a:prstDash val="solid"/>
          </a:ln>
        </p:spPr>
      </p:sp>
      <p:sp>
        <p:nvSpPr>
          <p:cNvPr id="20" name="Text 16"/>
          <p:cNvSpPr/>
          <p:nvPr/>
        </p:nvSpPr>
        <p:spPr>
          <a:xfrm>
            <a:off x="8357616" y="2514600"/>
            <a:ext cx="914400" cy="365760"/>
          </a:xfrm>
          <a:prstGeom prst="rect">
            <a:avLst/>
          </a:prstGeom>
          <a:noFill/>
          <a:ln/>
        </p:spPr>
        <p:txBody>
          <a:bodyPr wrap="square" lIns="0" tIns="0" rIns="0" bIns="0" rtlCol="0" anchor="t"/>
          <a:lstStyle/>
          <a:p>
            <a:r>
              <a:rPr sz="1500" b="1">
                <a:solidFill>
                  <a:srgbClr val="E8534E"/>
                </a:solidFill>
                <a:latin typeface="Consolas"/>
              </a:rPr>
              <a:t>03</a:t>
            </a:r>
          </a:p>
        </p:txBody>
      </p:sp>
      <p:sp>
        <p:nvSpPr>
          <p:cNvPr id="21" name="Text 17"/>
          <p:cNvSpPr/>
          <p:nvPr/>
        </p:nvSpPr>
        <p:spPr>
          <a:xfrm>
            <a:off x="8357616" y="2898648"/>
            <a:ext cx="3099816" cy="365760"/>
          </a:xfrm>
          <a:prstGeom prst="rect">
            <a:avLst/>
          </a:prstGeom>
          <a:noFill/>
          <a:ln/>
        </p:spPr>
        <p:txBody>
          <a:bodyPr wrap="square" lIns="0" tIns="0" rIns="0" bIns="0" rtlCol="0" anchor="t"/>
          <a:lstStyle/>
          <a:p>
            <a:r>
              <a:rPr sz="1600" b="1">
                <a:solidFill>
                  <a:srgbClr val="F5F3FB"/>
                </a:solidFill>
                <a:latin typeface="Arial"/>
              </a:rPr>
              <a:t>Portalul HR (Angajator)</a:t>
            </a:r>
          </a:p>
        </p:txBody>
      </p:sp>
      <p:sp>
        <p:nvSpPr>
          <p:cNvPr id="22" name="Text 18"/>
          <p:cNvSpPr/>
          <p:nvPr/>
        </p:nvSpPr>
        <p:spPr>
          <a:xfrm>
            <a:off x="8357616" y="3319272"/>
            <a:ext cx="3099816" cy="1645920"/>
          </a:xfrm>
          <a:prstGeom prst="rect">
            <a:avLst/>
          </a:prstGeom>
          <a:noFill/>
          <a:ln/>
        </p:spPr>
        <p:txBody>
          <a:bodyPr wrap="square" lIns="0" tIns="0" rIns="0" bIns="0" rtlCol="0" anchor="t"/>
          <a:lstStyle/>
          <a:p>
            <a:r>
              <a:rPr sz="1250">
                <a:solidFill>
                  <a:srgbClr val="B7B2C7"/>
                </a:solidFill>
                <a:latin typeface="Calibri"/>
              </a:rPr>
              <a:t>Scanează lizibilitatea documentelor interne (0-100), semnalează jargonul și produce versiuni Easy-to-Read.</a:t>
            </a:r>
          </a:p>
        </p:txBody>
      </p:sp>
    </p:spTree>
  </p:cSld>
  <p:clrMapOvr>
    <a:masterClrMapping/>
  </p:clrMapOvr>
  <p:transition xmlns:p15="http://schemas.microsoft.com/office/powerpoint/2012/main" spd="med">
    <p15:morph option="byObject"/>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06</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COMPETIȚIA</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De ce ChatGPT și Grammarly nu rezolvă problema.</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Text 7"/>
          <p:cNvSpPr/>
          <p:nvPr/>
        </p:nvSpPr>
        <p:spPr>
          <a:xfrm>
            <a:off x="566928" y="2377440"/>
            <a:ext cx="5394960" cy="2926080"/>
          </a:xfrm>
          <a:prstGeom prst="rect">
            <a:avLst/>
          </a:prstGeom>
          <a:noFill/>
          <a:ln/>
        </p:spPr>
        <p:txBody>
          <a:bodyPr wrap="square" rtlCol="0" anchor="t"/>
          <a:lstStyle/>
          <a:p>
            <a:r>
              <a:rPr sz="1500">
                <a:solidFill>
                  <a:srgbClr val="B7B2C7"/>
                </a:solidFill>
                <a:latin typeface="Calibri"/>
              </a:rPr>
              <a:t>ChatGPT inventează date când nu știe, nu cunoaște contextul de birou și nu exportă în calendar. Grammarly corectează doar virgule, dar nu simplifică o procedură de 40 de pagini.</a:t>
            </a:r>
          </a:p>
        </p:txBody>
      </p:sp>
      <p:sp>
        <p:nvSpPr>
          <p:cNvPr id="12" name="Shape 8"/>
          <p:cNvSpPr/>
          <p:nvPr/>
        </p:nvSpPr>
        <p:spPr>
          <a:xfrm>
            <a:off x="6126480" y="2377440"/>
            <a:ext cx="5303520" cy="2651760"/>
          </a:xfrm>
          <a:prstGeom prst="roundRect">
            <a:avLst>
              <a:gd name="adj" fmla="val 3103"/>
            </a:avLst>
          </a:prstGeom>
          <a:solidFill>
            <a:srgbClr val="1E1E2A"/>
          </a:solidFill>
          <a:ln w="9525">
            <a:solidFill>
              <a:srgbClr val="30303F"/>
            </a:solidFill>
            <a:prstDash val="solid"/>
          </a:ln>
        </p:spPr>
      </p:sp>
      <p:sp>
        <p:nvSpPr>
          <p:cNvPr id="13" name="Text 9"/>
          <p:cNvSpPr/>
          <p:nvPr/>
        </p:nvSpPr>
        <p:spPr>
          <a:xfrm>
            <a:off x="6345936" y="2542032"/>
            <a:ext cx="4864608" cy="274320"/>
          </a:xfrm>
          <a:prstGeom prst="rect">
            <a:avLst/>
          </a:prstGeom>
          <a:noFill/>
          <a:ln/>
        </p:spPr>
        <p:txBody>
          <a:bodyPr wrap="square" lIns="0" tIns="0" rIns="0" bIns="0" rtlCol="0" anchor="t"/>
          <a:lstStyle/>
          <a:p>
            <a:r>
              <a:rPr sz="1050" b="1">
                <a:solidFill>
                  <a:srgbClr val="34D399"/>
                </a:solidFill>
                <a:latin typeface="Consolas"/>
              </a:rPr>
              <a:t>✓  AVANTAJUL NOSTRU CATEGORIC</a:t>
            </a:r>
          </a:p>
        </p:txBody>
      </p:sp>
      <p:sp>
        <p:nvSpPr>
          <p:cNvPr id="14" name="Text 10"/>
          <p:cNvSpPr/>
          <p:nvPr/>
        </p:nvSpPr>
        <p:spPr>
          <a:xfrm>
            <a:off x="6345936" y="2871216"/>
            <a:ext cx="4864608" cy="2048256"/>
          </a:xfrm>
          <a:prstGeom prst="rect">
            <a:avLst/>
          </a:prstGeom>
          <a:noFill/>
          <a:ln/>
        </p:spPr>
        <p:txBody>
          <a:bodyPr wrap="square" lIns="0" tIns="0" rIns="0" bIns="0" rtlCol="0" anchor="t"/>
          <a:lstStyle/>
          <a:p>
            <a:r>
              <a:rPr sz="1300">
                <a:solidFill>
                  <a:srgbClr val="F5F3FB"/>
                </a:solidFill>
                <a:latin typeface="Calibri"/>
              </a:rPr>
              <a:t>Verbatim quote grounding (zero halucinații), 100% date pe dispozitiv (localStorage), respectarea strictă a EU AI Act Art. 5 (interzicere citire emoții la muncă) și funcționare offline.</a:t>
            </a:r>
          </a:p>
        </p:txBody>
      </p:sp>
    </p:spTree>
  </p:cSld>
  <p:clrMapOvr>
    <a:masterClrMapping/>
  </p:clrMapOvr>
  <p:transition xmlns:p15="http://schemas.microsoft.com/office/powerpoint/2012/main" spd="med">
    <p15:morph option="byObject"/>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07</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DEMONSTRAȚIA LIVE</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Hai să vedem Limpede în acțiune.</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Shape 7"/>
          <p:cNvSpPr/>
          <p:nvPr/>
        </p:nvSpPr>
        <p:spPr>
          <a:xfrm>
            <a:off x="566928" y="2331720"/>
            <a:ext cx="5394960" cy="2743200"/>
          </a:xfrm>
          <a:prstGeom prst="roundRect">
            <a:avLst>
              <a:gd name="adj" fmla="val 3000"/>
            </a:avLst>
          </a:prstGeom>
          <a:solidFill>
            <a:srgbClr val="171721"/>
          </a:solidFill>
          <a:ln w="9525">
            <a:solidFill>
              <a:srgbClr val="30303F"/>
            </a:solidFill>
            <a:prstDash val="solid"/>
          </a:ln>
        </p:spPr>
      </p:sp>
      <p:sp>
        <p:nvSpPr>
          <p:cNvPr id="12" name="Text 8"/>
          <p:cNvSpPr/>
          <p:nvPr/>
        </p:nvSpPr>
        <p:spPr>
          <a:xfrm>
            <a:off x="768096" y="2514600"/>
            <a:ext cx="914400" cy="365760"/>
          </a:xfrm>
          <a:prstGeom prst="rect">
            <a:avLst/>
          </a:prstGeom>
          <a:noFill/>
          <a:ln/>
        </p:spPr>
        <p:txBody>
          <a:bodyPr wrap="square" lIns="0" tIns="0" rIns="0" bIns="0" rtlCol="0" anchor="t"/>
          <a:lstStyle/>
          <a:p>
            <a:r>
              <a:rPr sz="1500" b="1">
                <a:solidFill>
                  <a:srgbClr val="E8534E"/>
                </a:solidFill>
                <a:latin typeface="Consolas"/>
              </a:rPr>
              <a:t>PASUL 1</a:t>
            </a:r>
          </a:p>
        </p:txBody>
      </p:sp>
      <p:sp>
        <p:nvSpPr>
          <p:cNvPr id="13" name="Text 9"/>
          <p:cNvSpPr/>
          <p:nvPr/>
        </p:nvSpPr>
        <p:spPr>
          <a:xfrm>
            <a:off x="768096" y="2898648"/>
            <a:ext cx="4992624" cy="365760"/>
          </a:xfrm>
          <a:prstGeom prst="rect">
            <a:avLst/>
          </a:prstGeom>
          <a:noFill/>
          <a:ln/>
        </p:spPr>
        <p:txBody>
          <a:bodyPr wrap="square" lIns="0" tIns="0" rIns="0" bIns="0" rtlCol="0" anchor="t"/>
          <a:lstStyle/>
          <a:p>
            <a:r>
              <a:rPr sz="1600" b="1">
                <a:solidFill>
                  <a:srgbClr val="F5F3FB"/>
                </a:solidFill>
                <a:latin typeface="Arial"/>
              </a:rPr>
              <a:t>Profilul Anei (Fără Diagnostic)</a:t>
            </a:r>
          </a:p>
        </p:txBody>
      </p:sp>
      <p:sp>
        <p:nvSpPr>
          <p:cNvPr id="14" name="Text 10"/>
          <p:cNvSpPr/>
          <p:nvPr/>
        </p:nvSpPr>
        <p:spPr>
          <a:xfrm>
            <a:off x="768096" y="3319272"/>
            <a:ext cx="4992624" cy="1645920"/>
          </a:xfrm>
          <a:prstGeom prst="rect">
            <a:avLst/>
          </a:prstGeom>
          <a:noFill/>
          <a:ln/>
        </p:spPr>
        <p:txBody>
          <a:bodyPr wrap="square" lIns="0" tIns="0" rIns="0" bIns="0" rtlCol="0" anchor="t"/>
          <a:lstStyle/>
          <a:p>
            <a:r>
              <a:rPr sz="1250">
                <a:solidFill>
                  <a:srgbClr val="B7B2C7"/>
                </a:solidFill>
                <a:latin typeface="Calibri"/>
              </a:rPr>
              <a:t>Setare nevoi în propriile cuvinte: «am probleme de memorie, vreau datele îngroșate». Salvare 100% în browser.</a:t>
            </a:r>
          </a:p>
        </p:txBody>
      </p:sp>
      <p:sp>
        <p:nvSpPr>
          <p:cNvPr id="15" name="Shape 11"/>
          <p:cNvSpPr/>
          <p:nvPr/>
        </p:nvSpPr>
        <p:spPr>
          <a:xfrm>
            <a:off x="6263640" y="2331720"/>
            <a:ext cx="5394960" cy="2743200"/>
          </a:xfrm>
          <a:prstGeom prst="roundRect">
            <a:avLst>
              <a:gd name="adj" fmla="val 3000"/>
            </a:avLst>
          </a:prstGeom>
          <a:solidFill>
            <a:srgbClr val="171721"/>
          </a:solidFill>
          <a:ln w="9525">
            <a:solidFill>
              <a:srgbClr val="30303F"/>
            </a:solidFill>
            <a:prstDash val="solid"/>
          </a:ln>
        </p:spPr>
      </p:sp>
      <p:sp>
        <p:nvSpPr>
          <p:cNvPr id="16" name="Text 12"/>
          <p:cNvSpPr/>
          <p:nvPr/>
        </p:nvSpPr>
        <p:spPr>
          <a:xfrm>
            <a:off x="6464808" y="2514600"/>
            <a:ext cx="914400" cy="365760"/>
          </a:xfrm>
          <a:prstGeom prst="rect">
            <a:avLst/>
          </a:prstGeom>
          <a:noFill/>
          <a:ln/>
        </p:spPr>
        <p:txBody>
          <a:bodyPr wrap="square" lIns="0" tIns="0" rIns="0" bIns="0" rtlCol="0" anchor="t"/>
          <a:lstStyle/>
          <a:p>
            <a:r>
              <a:rPr sz="1500" b="1">
                <a:solidFill>
                  <a:srgbClr val="E8534E"/>
                </a:solidFill>
                <a:latin typeface="Consolas"/>
              </a:rPr>
              <a:t>PASUL 2</a:t>
            </a:r>
          </a:p>
        </p:txBody>
      </p:sp>
      <p:sp>
        <p:nvSpPr>
          <p:cNvPr id="17" name="Text 13"/>
          <p:cNvSpPr/>
          <p:nvPr/>
        </p:nvSpPr>
        <p:spPr>
          <a:xfrm>
            <a:off x="6464808" y="2898648"/>
            <a:ext cx="4992624" cy="365760"/>
          </a:xfrm>
          <a:prstGeom prst="rect">
            <a:avLst/>
          </a:prstGeom>
          <a:noFill/>
          <a:ln/>
        </p:spPr>
        <p:txBody>
          <a:bodyPr wrap="square" lIns="0" tIns="0" rIns="0" bIns="0" rtlCol="0" anchor="t"/>
          <a:lstStyle/>
          <a:p>
            <a:r>
              <a:rPr sz="1600" b="1">
                <a:solidFill>
                  <a:srgbClr val="F5F3FB"/>
                </a:solidFill>
                <a:latin typeface="Arial"/>
              </a:rPr>
              <a:t>Ghid Onboarding &amp; Calendar .ICS</a:t>
            </a:r>
          </a:p>
        </p:txBody>
      </p:sp>
      <p:sp>
        <p:nvSpPr>
          <p:cNvPr id="18" name="Text 14"/>
          <p:cNvSpPr/>
          <p:nvPr/>
        </p:nvSpPr>
        <p:spPr>
          <a:xfrm>
            <a:off x="6464808" y="3319272"/>
            <a:ext cx="4992624" cy="1645920"/>
          </a:xfrm>
          <a:prstGeom prst="rect">
            <a:avLst/>
          </a:prstGeom>
          <a:noFill/>
          <a:ln/>
        </p:spPr>
        <p:txBody>
          <a:bodyPr wrap="square" lIns="0" tIns="0" rIns="0" bIns="0" rtlCol="0" anchor="t"/>
          <a:lstStyle/>
          <a:p>
            <a:r>
              <a:rPr sz="1250">
                <a:solidFill>
                  <a:srgbClr val="B7B2C7"/>
                </a:solidFill>
                <a:latin typeface="Calibri"/>
              </a:rPr>
              <a:t>Încărcare PDF, card «De reținut», butonul «Arată în text» (aprinde citatul cu galben), alertă [De confirmat] și export calendar.</a:t>
            </a:r>
          </a:p>
        </p:txBody>
      </p:sp>
    </p:spTree>
  </p:cSld>
  <p:clrMapOvr>
    <a:masterClrMapping/>
  </p:clrMapOvr>
  <p:transition xmlns:p15="http://schemas.microsoft.com/office/powerpoint/2012/main" spd="med">
    <p15:morph option="byObject"/>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12"/>
        </a:solidFill>
      </p:bgPr>
    </p:bg>
    <p:spTree>
      <p:nvGrpSpPr>
        <p:cNvPr id="1" name=""/>
        <p:cNvGrpSpPr/>
        <p:nvPr/>
      </p:nvGrpSpPr>
      <p:grpSpPr>
        <a:xfrm>
          <a:off x="0" y="0"/>
          <a:ext cx="0" cy="0"/>
          <a:chOff x="0" y="0"/>
          <a:chExt cx="0" cy="0"/>
        </a:xfrm>
      </p:grpSpPr>
      <p:pic>
        <p:nvPicPr>
          <p:cNvPr id="2" name="Image 0" descr="/home/claude/ip/glow_violet.png">    </p:cNvPr>
          <p:cNvPicPr>
            <a:picLocks noChangeAspect="1"/>
          </p:cNvPicPr>
          <p:nvPr/>
        </p:nvPicPr>
        <p:blipFill>
          <a:blip r:embed="rId1"/>
          <a:stretch>
            <a:fillRect/>
          </a:stretch>
        </p:blipFill>
        <p:spPr>
          <a:xfrm>
            <a:off x="6492240" y="-822960"/>
            <a:ext cx="6309360" cy="3566160"/>
          </a:xfrm>
          <a:prstGeom prst="rect">
            <a:avLst/>
          </a:prstGeom>
        </p:spPr>
      </p:pic>
      <p:pic>
        <p:nvPicPr>
          <p:cNvPr id="3" name="Image 1" descr="/home/claude/ip/logo_trim.png">    </p:cNvPr>
          <p:cNvPicPr>
            <a:picLocks noChangeAspect="1"/>
          </p:cNvPicPr>
          <p:nvPr/>
        </p:nvPicPr>
        <p:blipFill>
          <a:blip r:embed="rId2"/>
          <a:stretch>
            <a:fillRect/>
          </a:stretch>
        </p:blipFill>
        <p:spPr>
          <a:xfrm>
            <a:off x="566928" y="365760"/>
            <a:ext cx="219456" cy="244873"/>
          </a:xfrm>
          <a:prstGeom prst="rect">
            <a:avLst/>
          </a:prstGeom>
        </p:spPr>
      </p:pic>
      <p:sp>
        <p:nvSpPr>
          <p:cNvPr id="4" name="Text 0"/>
          <p:cNvSpPr/>
          <p:nvPr/>
        </p:nvSpPr>
        <p:spPr>
          <a:xfrm>
            <a:off x="859536" y="329184"/>
            <a:ext cx="2743200" cy="310896"/>
          </a:xfrm>
          <a:prstGeom prst="rect">
            <a:avLst/>
          </a:prstGeom>
          <a:noFill/>
          <a:ln/>
        </p:spPr>
        <p:txBody>
          <a:bodyPr wrap="square" rtlCol="0" anchor="ctr"/>
          <a:lstStyle/>
          <a:p>
            <a:r>
              <a:rPr sz="1000" b="1">
                <a:solidFill>
                  <a:srgbClr val="F5F3FB"/>
                </a:solidFill>
                <a:latin typeface="Consolas"/>
              </a:rPr>
              <a:t>LIMPEDE</a:t>
            </a:r>
          </a:p>
        </p:txBody>
      </p:sp>
      <p:sp>
        <p:nvSpPr>
          <p:cNvPr id="5" name="Text 1"/>
          <p:cNvSpPr/>
          <p:nvPr/>
        </p:nvSpPr>
        <p:spPr>
          <a:xfrm>
            <a:off x="7050024" y="329184"/>
            <a:ext cx="4572000" cy="310896"/>
          </a:xfrm>
          <a:prstGeom prst="rect">
            <a:avLst/>
          </a:prstGeom>
          <a:noFill/>
          <a:ln/>
        </p:spPr>
        <p:txBody>
          <a:bodyPr wrap="square" rtlCol="0" anchor="ctr"/>
          <a:lstStyle/>
          <a:p>
            <a:r>
              <a:rPr sz="1000">
                <a:solidFill>
                  <a:srgbClr val="736E85"/>
                </a:solidFill>
                <a:latin typeface="Consolas"/>
              </a:rPr>
              <a:t>PITCH ACCESSABILITY</a:t>
            </a:r>
          </a:p>
        </p:txBody>
      </p:sp>
      <p:sp>
        <p:nvSpPr>
          <p:cNvPr id="6" name="Text 2"/>
          <p:cNvSpPr/>
          <p:nvPr/>
        </p:nvSpPr>
        <p:spPr>
          <a:xfrm>
            <a:off x="6675120" y="2011680"/>
            <a:ext cx="5212080" cy="5120640"/>
          </a:xfrm>
          <a:prstGeom prst="rect">
            <a:avLst/>
          </a:prstGeom>
          <a:noFill/>
          <a:ln/>
        </p:spPr>
        <p:txBody>
          <a:bodyPr wrap="square" rtlCol="0" anchor="b"/>
          <a:lstStyle/>
          <a:p>
            <a:r>
              <a:rPr sz="34000" b="1">
                <a:solidFill>
                  <a:srgbClr val="17171F"/>
                </a:solidFill>
                <a:latin typeface="Arial"/>
              </a:rPr>
              <a:t>08</a:t>
            </a:r>
          </a:p>
        </p:txBody>
      </p:sp>
      <p:sp>
        <p:nvSpPr>
          <p:cNvPr id="7" name="Text 3"/>
          <p:cNvSpPr/>
          <p:nvPr/>
        </p:nvSpPr>
        <p:spPr>
          <a:xfrm>
            <a:off x="566928" y="1051560"/>
            <a:ext cx="8229600" cy="310896"/>
          </a:xfrm>
          <a:prstGeom prst="rect">
            <a:avLst/>
          </a:prstGeom>
          <a:noFill/>
          <a:ln/>
        </p:spPr>
        <p:txBody>
          <a:bodyPr wrap="square" rtlCol="0" anchor="ctr"/>
          <a:lstStyle/>
          <a:p>
            <a:r>
              <a:rPr sz="1200" b="1">
                <a:solidFill>
                  <a:srgbClr val="E8534E"/>
                </a:solidFill>
                <a:latin typeface="Consolas"/>
              </a:rPr>
              <a:t>CONCLUZIE &amp; IMPACT</a:t>
            </a:r>
          </a:p>
        </p:txBody>
      </p:sp>
      <p:sp>
        <p:nvSpPr>
          <p:cNvPr id="8" name="Text 4"/>
          <p:cNvSpPr/>
          <p:nvPr/>
        </p:nvSpPr>
        <p:spPr>
          <a:xfrm>
            <a:off x="566928" y="1417320"/>
            <a:ext cx="11055096" cy="914400"/>
          </a:xfrm>
          <a:prstGeom prst="rect">
            <a:avLst/>
          </a:prstGeom>
          <a:noFill/>
          <a:ln/>
        </p:spPr>
        <p:txBody>
          <a:bodyPr wrap="square" rtlCol="0" anchor="t"/>
          <a:lstStyle/>
          <a:p>
            <a:r>
              <a:rPr sz="4000" b="1">
                <a:solidFill>
                  <a:srgbClr val="F5F3FB"/>
                </a:solidFill>
                <a:latin typeface="Arial"/>
              </a:rPr>
              <a:t>Locul de muncă adaptat la om, nu invers.</a:t>
            </a:r>
          </a:p>
        </p:txBody>
      </p:sp>
      <p:sp>
        <p:nvSpPr>
          <p:cNvPr id="9" name="Text 5"/>
          <p:cNvSpPr/>
          <p:nvPr/>
        </p:nvSpPr>
        <p:spPr>
          <a:xfrm>
            <a:off x="566928" y="6419088"/>
            <a:ext cx="3657600" cy="274320"/>
          </a:xfrm>
          <a:prstGeom prst="rect">
            <a:avLst/>
          </a:prstGeom>
          <a:noFill/>
          <a:ln/>
        </p:spPr>
        <p:txBody>
          <a:bodyPr wrap="square" rtlCol="0" anchor="ctr"/>
          <a:lstStyle/>
          <a:p>
            <a:r>
              <a:rPr sz="850">
                <a:solidFill>
                  <a:srgbClr val="736E85"/>
                </a:solidFill>
                <a:latin typeface="Consolas"/>
              </a:rPr>
              <a:t>LIMPEDE.RO</a:t>
            </a:r>
          </a:p>
        </p:txBody>
      </p:sp>
      <p:sp>
        <p:nvSpPr>
          <p:cNvPr id="10" name="Text 6"/>
          <p:cNvSpPr/>
          <p:nvPr/>
        </p:nvSpPr>
        <p:spPr>
          <a:xfrm>
            <a:off x="6135624" y="6419088"/>
            <a:ext cx="5486400" cy="274320"/>
          </a:xfrm>
          <a:prstGeom prst="rect">
            <a:avLst/>
          </a:prstGeom>
          <a:noFill/>
          <a:ln/>
        </p:spPr>
        <p:txBody>
          <a:bodyPr wrap="square" rtlCol="0" anchor="ctr"/>
          <a:lstStyle/>
          <a:p>
            <a:r>
              <a:rPr sz="850">
                <a:solidFill>
                  <a:srgbClr val="736E85"/>
                </a:solidFill>
                <a:latin typeface="Consolas"/>
              </a:rPr>
              <a:t>HACKATHON 2026</a:t>
            </a:r>
          </a:p>
        </p:txBody>
      </p:sp>
      <p:sp>
        <p:nvSpPr>
          <p:cNvPr id="11" name="Text 7"/>
          <p:cNvSpPr/>
          <p:nvPr/>
        </p:nvSpPr>
        <p:spPr>
          <a:xfrm>
            <a:off x="566928" y="2377440"/>
            <a:ext cx="5394960" cy="2926080"/>
          </a:xfrm>
          <a:prstGeom prst="rect">
            <a:avLst/>
          </a:prstGeom>
          <a:noFill/>
          <a:ln/>
        </p:spPr>
        <p:txBody>
          <a:bodyPr wrap="square" rtlCol="0" anchor="t"/>
          <a:lstStyle/>
          <a:p>
            <a:r>
              <a:rPr sz="1500">
                <a:solidFill>
                  <a:srgbClr val="B7B2C7"/>
                </a:solidFill>
                <a:latin typeface="Calibri"/>
              </a:rPr>
              <a:t>Cu Limpede, prima zi de muncă nu mai este un test de anduranță cognitivă sau o sursă de panică, ci un parteneriat bazat pe claritate, demnitate și performanță.</a:t>
            </a:r>
          </a:p>
        </p:txBody>
      </p:sp>
      <p:sp>
        <p:nvSpPr>
          <p:cNvPr id="12" name="Shape 8"/>
          <p:cNvSpPr/>
          <p:nvPr/>
        </p:nvSpPr>
        <p:spPr>
          <a:xfrm>
            <a:off x="6126480" y="2377440"/>
            <a:ext cx="2560320" cy="1234440"/>
          </a:xfrm>
          <a:prstGeom prst="roundRect">
            <a:avLst>
              <a:gd name="adj" fmla="val 6667"/>
            </a:avLst>
          </a:prstGeom>
          <a:solidFill>
            <a:srgbClr val="171721"/>
          </a:solidFill>
          <a:ln w="9525">
            <a:solidFill>
              <a:srgbClr val="30303F"/>
            </a:solidFill>
            <a:prstDash val="solid"/>
          </a:ln>
        </p:spPr>
      </p:sp>
      <p:sp>
        <p:nvSpPr>
          <p:cNvPr id="13" name="Text 9"/>
          <p:cNvSpPr/>
          <p:nvPr/>
        </p:nvSpPr>
        <p:spPr>
          <a:xfrm>
            <a:off x="6327648" y="2523744"/>
            <a:ext cx="2194560" cy="617220"/>
          </a:xfrm>
          <a:prstGeom prst="rect">
            <a:avLst/>
          </a:prstGeom>
          <a:noFill/>
          <a:ln/>
        </p:spPr>
        <p:txBody>
          <a:bodyPr wrap="square" lIns="0" tIns="0" rIns="0" bIns="0" rtlCol="0" anchor="t"/>
          <a:lstStyle/>
          <a:p>
            <a:r>
              <a:rPr sz="3000" b="1">
                <a:solidFill>
                  <a:srgbClr val="A78BFA"/>
                </a:solidFill>
                <a:latin typeface="Arial"/>
              </a:rPr>
              <a:t>Gratuit</a:t>
            </a:r>
          </a:p>
        </p:txBody>
      </p:sp>
      <p:sp>
        <p:nvSpPr>
          <p:cNvPr id="14" name="Text 10"/>
          <p:cNvSpPr/>
          <p:nvPr/>
        </p:nvSpPr>
        <p:spPr>
          <a:xfrm>
            <a:off x="6327648" y="3154680"/>
            <a:ext cx="2194560" cy="274320"/>
          </a:xfrm>
          <a:prstGeom prst="rect">
            <a:avLst/>
          </a:prstGeom>
          <a:noFill/>
          <a:ln/>
        </p:spPr>
        <p:txBody>
          <a:bodyPr wrap="square" lIns="0" tIns="0" rIns="0" bIns="0" rtlCol="0" anchor="t"/>
          <a:lstStyle/>
          <a:p>
            <a:r>
              <a:rPr sz="900">
                <a:solidFill>
                  <a:srgbClr val="736E85"/>
                </a:solidFill>
                <a:latin typeface="Consolas"/>
              </a:rPr>
              <a:t>PENTRU ANGAJAȚI</a:t>
            </a:r>
          </a:p>
        </p:txBody>
      </p:sp>
      <p:sp>
        <p:nvSpPr>
          <p:cNvPr id="15" name="Shape 11"/>
          <p:cNvSpPr/>
          <p:nvPr/>
        </p:nvSpPr>
        <p:spPr>
          <a:xfrm>
            <a:off x="8869680" y="2377440"/>
            <a:ext cx="2560320" cy="1234440"/>
          </a:xfrm>
          <a:prstGeom prst="roundRect">
            <a:avLst>
              <a:gd name="adj" fmla="val 6667"/>
            </a:avLst>
          </a:prstGeom>
          <a:solidFill>
            <a:srgbClr val="171721"/>
          </a:solidFill>
          <a:ln w="9525">
            <a:solidFill>
              <a:srgbClr val="30303F"/>
            </a:solidFill>
            <a:prstDash val="solid"/>
          </a:ln>
        </p:spPr>
      </p:sp>
      <p:sp>
        <p:nvSpPr>
          <p:cNvPr id="16" name="Text 12"/>
          <p:cNvSpPr/>
          <p:nvPr/>
        </p:nvSpPr>
        <p:spPr>
          <a:xfrm>
            <a:off x="9070848" y="2523744"/>
            <a:ext cx="2194560" cy="617220"/>
          </a:xfrm>
          <a:prstGeom prst="rect">
            <a:avLst/>
          </a:prstGeom>
          <a:noFill/>
          <a:ln/>
        </p:spPr>
        <p:txBody>
          <a:bodyPr wrap="square" lIns="0" tIns="0" rIns="0" bIns="0" rtlCol="0" anchor="t"/>
          <a:lstStyle/>
          <a:p>
            <a:r>
              <a:rPr sz="3000" b="1">
                <a:solidFill>
                  <a:srgbClr val="F5F3FB"/>
                </a:solidFill>
                <a:latin typeface="Arial"/>
              </a:rPr>
              <a:t>B2B SaaS</a:t>
            </a:r>
          </a:p>
        </p:txBody>
      </p:sp>
      <p:sp>
        <p:nvSpPr>
          <p:cNvPr id="17" name="Text 13"/>
          <p:cNvSpPr/>
          <p:nvPr/>
        </p:nvSpPr>
        <p:spPr>
          <a:xfrm>
            <a:off x="9070848" y="3154680"/>
            <a:ext cx="2194560" cy="274320"/>
          </a:xfrm>
          <a:prstGeom prst="rect">
            <a:avLst/>
          </a:prstGeom>
          <a:noFill/>
          <a:ln/>
        </p:spPr>
        <p:txBody>
          <a:bodyPr wrap="square" lIns="0" tIns="0" rIns="0" bIns="0" rtlCol="0" anchor="t"/>
          <a:lstStyle/>
          <a:p>
            <a:r>
              <a:rPr sz="900">
                <a:solidFill>
                  <a:srgbClr val="736E85"/>
                </a:solidFill>
                <a:latin typeface="Consolas"/>
              </a:rPr>
              <a:t>PENTRU COMPANII (ESG)</a:t>
            </a:r>
          </a:p>
        </p:txBody>
      </p:sp>
      <p:sp>
        <p:nvSpPr>
          <p:cNvPr id="18" name="Shape 14"/>
          <p:cNvSpPr/>
          <p:nvPr/>
        </p:nvSpPr>
        <p:spPr>
          <a:xfrm>
            <a:off x="6126480" y="3749040"/>
            <a:ext cx="2560320" cy="1234440"/>
          </a:xfrm>
          <a:prstGeom prst="roundRect">
            <a:avLst>
              <a:gd name="adj" fmla="val 6667"/>
            </a:avLst>
          </a:prstGeom>
          <a:solidFill>
            <a:srgbClr val="171721"/>
          </a:solidFill>
          <a:ln w="9525">
            <a:solidFill>
              <a:srgbClr val="30303F"/>
            </a:solidFill>
            <a:prstDash val="solid"/>
          </a:ln>
        </p:spPr>
      </p:sp>
      <p:sp>
        <p:nvSpPr>
          <p:cNvPr id="19" name="Text 15"/>
          <p:cNvSpPr/>
          <p:nvPr/>
        </p:nvSpPr>
        <p:spPr>
          <a:xfrm>
            <a:off x="6327648" y="3895344"/>
            <a:ext cx="2194560" cy="617220"/>
          </a:xfrm>
          <a:prstGeom prst="rect">
            <a:avLst/>
          </a:prstGeom>
          <a:noFill/>
          <a:ln/>
        </p:spPr>
        <p:txBody>
          <a:bodyPr wrap="square" lIns="0" tIns="0" rIns="0" bIns="0" rtlCol="0" anchor="t"/>
          <a:lstStyle/>
          <a:p>
            <a:r>
              <a:rPr sz="3000" b="1">
                <a:solidFill>
                  <a:srgbClr val="34D399"/>
                </a:solidFill>
                <a:latin typeface="Arial"/>
              </a:rPr>
              <a:t>454</a:t>
            </a:r>
          </a:p>
        </p:txBody>
      </p:sp>
      <p:sp>
        <p:nvSpPr>
          <p:cNvPr id="20" name="Text 16"/>
          <p:cNvSpPr/>
          <p:nvPr/>
        </p:nvSpPr>
        <p:spPr>
          <a:xfrm>
            <a:off x="6327648" y="4526280"/>
            <a:ext cx="2194560" cy="274320"/>
          </a:xfrm>
          <a:prstGeom prst="rect">
            <a:avLst/>
          </a:prstGeom>
          <a:noFill/>
          <a:ln/>
        </p:spPr>
        <p:txBody>
          <a:bodyPr wrap="square" lIns="0" tIns="0" rIns="0" bIns="0" rtlCol="0" anchor="t"/>
          <a:lstStyle/>
          <a:p>
            <a:r>
              <a:rPr sz="900">
                <a:solidFill>
                  <a:srgbClr val="736E85"/>
                </a:solidFill>
                <a:latin typeface="Consolas"/>
              </a:rPr>
              <a:t>TESTE VERIFICATE VERZI</a:t>
            </a:r>
          </a:p>
        </p:txBody>
      </p:sp>
      <p:sp>
        <p:nvSpPr>
          <p:cNvPr id="21" name="Shape 17"/>
          <p:cNvSpPr/>
          <p:nvPr/>
        </p:nvSpPr>
        <p:spPr>
          <a:xfrm>
            <a:off x="8869680" y="3749040"/>
            <a:ext cx="2560320" cy="1234440"/>
          </a:xfrm>
          <a:prstGeom prst="roundRect">
            <a:avLst>
              <a:gd name="adj" fmla="val 6667"/>
            </a:avLst>
          </a:prstGeom>
          <a:solidFill>
            <a:srgbClr val="171721"/>
          </a:solidFill>
          <a:ln w="9525">
            <a:solidFill>
              <a:srgbClr val="30303F"/>
            </a:solidFill>
            <a:prstDash val="solid"/>
          </a:ln>
        </p:spPr>
      </p:sp>
      <p:sp>
        <p:nvSpPr>
          <p:cNvPr id="22" name="Text 18"/>
          <p:cNvSpPr/>
          <p:nvPr/>
        </p:nvSpPr>
        <p:spPr>
          <a:xfrm>
            <a:off x="9070848" y="3895344"/>
            <a:ext cx="2194560" cy="617220"/>
          </a:xfrm>
          <a:prstGeom prst="rect">
            <a:avLst/>
          </a:prstGeom>
          <a:noFill/>
          <a:ln/>
        </p:spPr>
        <p:txBody>
          <a:bodyPr wrap="square" lIns="0" tIns="0" rIns="0" bIns="0" rtlCol="0" anchor="t"/>
          <a:lstStyle/>
          <a:p>
            <a:r>
              <a:rPr sz="3000" b="1">
                <a:solidFill>
                  <a:srgbClr val="F5F3FB"/>
                </a:solidFill>
                <a:latin typeface="Arial"/>
              </a:rPr>
              <a:t>AAA</a:t>
            </a:r>
          </a:p>
        </p:txBody>
      </p:sp>
      <p:sp>
        <p:nvSpPr>
          <p:cNvPr id="23" name="Text 19"/>
          <p:cNvSpPr/>
          <p:nvPr/>
        </p:nvSpPr>
        <p:spPr>
          <a:xfrm>
            <a:off x="9070848" y="4526280"/>
            <a:ext cx="2194560" cy="274320"/>
          </a:xfrm>
          <a:prstGeom prst="rect">
            <a:avLst/>
          </a:prstGeom>
          <a:noFill/>
          <a:ln/>
        </p:spPr>
        <p:txBody>
          <a:bodyPr wrap="square" lIns="0" tIns="0" rIns="0" bIns="0" rtlCol="0" anchor="t"/>
          <a:lstStyle/>
          <a:p>
            <a:r>
              <a:rPr sz="900">
                <a:solidFill>
                  <a:srgbClr val="736E85"/>
                </a:solidFill>
                <a:latin typeface="Consolas"/>
              </a:rPr>
              <a:t>CONFORMITATE WCAG 2.2</a:t>
            </a:r>
          </a:p>
        </p:txBody>
      </p:sp>
    </p:spTree>
  </p:cSld>
  <p:clrMapOvr>
    <a:masterClrMapping/>
  </p:clrMapOvr>
  <p:transition xmlns:p15="http://schemas.microsoft.com/office/powerpoint/2012/main" spd="med">
    <p15:morph option="byObject"/>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IdeaProof Research</dc:creator>
  <cp:lastModifiedBy>IdeaProof Research</cp:lastModifiedBy>
  <cp:revision>1</cp:revision>
  <dcterms:created xsi:type="dcterms:W3CDTF">2026-07-23T19:44:41Z</dcterms:created>
  <dcterms:modified xsi:type="dcterms:W3CDTF">2026-07-23T19:44:41Z</dcterms:modified>
</cp:coreProperties>
</file>